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226d24f7c74021" /><Relationship Type="http://schemas.openxmlformats.org/officeDocument/2006/relationships/extended-properties" Target="/docProps/app.xml" Id="R6996c5c9e34b43ce" /><Relationship Type="http://schemas.openxmlformats.org/officeDocument/2006/relationships/officeDocument" Target="/ppt/presentation.xml" Id="R5dc23be9dd9c47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38e6f512a64016"/>
  </p:sldMasterIdLst>
  <p:notesMasterIdLst>
    <p:notesMasterId xmlns:r="http://schemas.openxmlformats.org/officeDocument/2006/relationships" r:id="R0e1fe84db43e428b"/>
  </p:notesMasterIdLst>
  <p:sldIdLst>
    <p:sldId xmlns:r="http://schemas.openxmlformats.org/officeDocument/2006/relationships" id="256" r:id="R9674c50692434649"/>
    <p:sldId xmlns:r="http://schemas.openxmlformats.org/officeDocument/2006/relationships" id="257" r:id="Rda769ab931ae4f45"/>
    <p:sldId xmlns:r="http://schemas.openxmlformats.org/officeDocument/2006/relationships" id="258" r:id="R6865519633f64bd4"/>
    <p:sldId xmlns:r="http://schemas.openxmlformats.org/officeDocument/2006/relationships" id="259" r:id="R3eb8dca13fc24f78"/>
    <p:sldId xmlns:r="http://schemas.openxmlformats.org/officeDocument/2006/relationships" id="260" r:id="Ra4f7f311c0104934"/>
    <p:sldId xmlns:r="http://schemas.openxmlformats.org/officeDocument/2006/relationships" id="261" r:id="R6b58ffc06c99411e"/>
    <p:sldId xmlns:r="http://schemas.openxmlformats.org/officeDocument/2006/relationships" id="262" r:id="Rd713a8c73f5b4f65"/>
    <p:sldId xmlns:r="http://schemas.openxmlformats.org/officeDocument/2006/relationships" id="263" r:id="Re35149a4d61f4202"/>
    <p:sldId xmlns:r="http://schemas.openxmlformats.org/officeDocument/2006/relationships" id="264" r:id="R608ecc5bceb64748"/>
    <p:sldId xmlns:r="http://schemas.openxmlformats.org/officeDocument/2006/relationships" id="265" r:id="Rc9ddcef1155a4e81"/>
    <p:sldId xmlns:r="http://schemas.openxmlformats.org/officeDocument/2006/relationships" id="266" r:id="Rc5badf54a8ea4408"/>
    <p:sldId xmlns:r="http://schemas.openxmlformats.org/officeDocument/2006/relationships" id="267" r:id="R8a3d21ca517b48b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8014efe94a4f77" /><Relationship Type="http://schemas.openxmlformats.org/officeDocument/2006/relationships/slideMaster" Target="/ppt/slideMasters/slideMaster1.xml" Id="Rd438e6f512a64016" /><Relationship Type="http://schemas.openxmlformats.org/officeDocument/2006/relationships/notesMaster" Target="/ppt/notesMasters/notesMaster1.xml" Id="R0e1fe84db43e428b" /><Relationship Type="http://schemas.openxmlformats.org/officeDocument/2006/relationships/presProps" Target="/ppt/presProps.xml" Id="Ra30d7828199d4a48" /><Relationship Type="http://schemas.openxmlformats.org/officeDocument/2006/relationships/tableStyles" Target="/ppt/tableStyles.xml" Id="R19315778802349be" /><Relationship Type="http://schemas.openxmlformats.org/officeDocument/2006/relationships/slide" Target="/ppt/slides/slide1.xml" Id="R9674c50692434649" /><Relationship Type="http://schemas.openxmlformats.org/officeDocument/2006/relationships/slide" Target="/ppt/slides/slide2.xml" Id="Rda769ab931ae4f45" /><Relationship Type="http://schemas.openxmlformats.org/officeDocument/2006/relationships/slide" Target="/ppt/slides/slide3.xml" Id="R6865519633f64bd4" /><Relationship Type="http://schemas.openxmlformats.org/officeDocument/2006/relationships/slide" Target="/ppt/slides/slide4.xml" Id="R3eb8dca13fc24f78" /><Relationship Type="http://schemas.openxmlformats.org/officeDocument/2006/relationships/slide" Target="/ppt/slides/slide5.xml" Id="Ra4f7f311c0104934" /><Relationship Type="http://schemas.openxmlformats.org/officeDocument/2006/relationships/slide" Target="/ppt/slides/slide6.xml" Id="R6b58ffc06c99411e" /><Relationship Type="http://schemas.openxmlformats.org/officeDocument/2006/relationships/slide" Target="/ppt/slides/slide7.xml" Id="Rd713a8c73f5b4f65" /><Relationship Type="http://schemas.openxmlformats.org/officeDocument/2006/relationships/slide" Target="/ppt/slides/slide8.xml" Id="Re35149a4d61f4202" /><Relationship Type="http://schemas.openxmlformats.org/officeDocument/2006/relationships/slide" Target="/ppt/slides/slide9.xml" Id="R608ecc5bceb64748" /><Relationship Type="http://schemas.openxmlformats.org/officeDocument/2006/relationships/slide" Target="/ppt/slides/slide10.xml" Id="Rc9ddcef1155a4e81" /><Relationship Type="http://schemas.openxmlformats.org/officeDocument/2006/relationships/slide" Target="/ppt/slides/slide11.xml" Id="Rc5badf54a8ea4408" /><Relationship Type="http://schemas.openxmlformats.org/officeDocument/2006/relationships/slide" Target="/ppt/slides/slide12.xml" Id="R8a3d21ca517b48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f9dc6195e647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d21e5f2cfa48a1" /><Relationship Type="http://schemas.openxmlformats.org/officeDocument/2006/relationships/notesMaster" Target="/ppt/notesMasters/notesMaster1.xml" Id="R5cfa153099bb41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547aad06c64d6b" /><Relationship Type="http://schemas.openxmlformats.org/officeDocument/2006/relationships/notesMaster" Target="/ppt/notesMasters/notesMaster1.xml" Id="Ra8e3bbc43b1b4e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1180f6333848dc" /><Relationship Type="http://schemas.openxmlformats.org/officeDocument/2006/relationships/notesMaster" Target="/ppt/notesMasters/notesMaster1.xml" Id="Rcca349e321484f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d88cda13b041cd" /><Relationship Type="http://schemas.openxmlformats.org/officeDocument/2006/relationships/notesMaster" Target="/ppt/notesMasters/notesMaster1.xml" Id="R0722a3bf60eb42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d80691e50246c3" /><Relationship Type="http://schemas.openxmlformats.org/officeDocument/2006/relationships/notesMaster" Target="/ppt/notesMasters/notesMaster1.xml" Id="R15fc3cbb692644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4f6616e79a4d19" /><Relationship Type="http://schemas.openxmlformats.org/officeDocument/2006/relationships/notesMaster" Target="/ppt/notesMasters/notesMaster1.xml" Id="Rb6144177fa9449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036068e7ac4c53" /><Relationship Type="http://schemas.openxmlformats.org/officeDocument/2006/relationships/notesMaster" Target="/ppt/notesMasters/notesMaster1.xml" Id="R6f370ca1667e416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0f766b7e6c4b5d" /><Relationship Type="http://schemas.openxmlformats.org/officeDocument/2006/relationships/notesMaster" Target="/ppt/notesMasters/notesMaster1.xml" Id="R90e9e79ab0fd4d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cd346800844580" /><Relationship Type="http://schemas.openxmlformats.org/officeDocument/2006/relationships/notesMaster" Target="/ppt/notesMasters/notesMaster1.xml" Id="R685497f011574bb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4e9e3f2210b453f" /><Relationship Type="http://schemas.openxmlformats.org/officeDocument/2006/relationships/notesMaster" Target="/ppt/notesMasters/notesMaster1.xml" Id="Rfd7da204a17043a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2eaa74002844f34" /><Relationship Type="http://schemas.openxmlformats.org/officeDocument/2006/relationships/notesMaster" Target="/ppt/notesMasters/notesMaster1.xml" Id="R38fa3c7c1dc34f4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3d9e6e10a2647f9" /><Relationship Type="http://schemas.openxmlformats.org/officeDocument/2006/relationships/notesMaster" Target="/ppt/notesMasters/notesMaster1.xml" Id="R654999fb3f034b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Pembukaan: perkenalkan anggota, topik project, dan tujuan membangun data lakehouse provinsi Indonesia.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Jelaskan mengapa lakehouse diperlukan: satu pipeline, data terintegrasi, dan analisis yang reproducible.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Tunjukkan bahwa data berasal dari sumber resmi: Wikidata untuk dimensi provinsi, BPS untuk indikator ekonomi dan demografi.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Jelaskan volume data setelah parser BPS diperbaiki dan catatan missing population untuk DOB Papua.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Jelaskan alur data dari sumber asli ke Bronze, diproses ke Silver, lalu dimodelkan di Gold.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Fokus pada fitur data engineering yang diminta rubric: idempotency dan versioning.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Tunjukkan bahwa Gold Layer memakai star schema. Fact table menjadi pusat analitik, dimensi menyediakan konteks.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Sebutkan file SQL tersedia di folder sql dan query yang sama dijalankan via Python.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Saat demo, jalankan pipeline dan cocokkan output utama dengan slide ini.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Untuk rekaman, buka MinIO console dan tunjukkan prefix bronze, silver, gold.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Tunjukkan output 6 query di terminal atau DBeaver. Grafik ini merangkum sebagian hasil utama.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Tekankan bahwa tim aktual beranggotakan dua orang, sehingga enam query dibagi tiga dan tiga.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a51b1e14704b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90ed6c30fd49c2" /><Relationship Type="http://schemas.openxmlformats.org/officeDocument/2006/relationships/slideLayout" Target="/ppt/slideLayouts/slideLayout1.xml" Id="Rbb481ae8685a45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481ae8685a45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84de692371438b" /><Relationship Type="http://schemas.openxmlformats.org/officeDocument/2006/relationships/notesSlide" Target="/ppt/notesSlides/notesSlide1.xml" Id="R2e84ae6aa9934a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a2c4a58e4a4ddb" /><Relationship Type="http://schemas.openxmlformats.org/officeDocument/2006/relationships/notesSlide" Target="/ppt/notesSlides/notesSlide2.xml" Id="Rdeb9c90183ae4c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c72100cbac4dd8" /><Relationship Type="http://schemas.openxmlformats.org/officeDocument/2006/relationships/image" Target="/ppt/media/image.png" Id="R9b3057ff55de4e22" /><Relationship Type="http://schemas.openxmlformats.org/officeDocument/2006/relationships/image" Target="/ppt/media/image2.png" Id="R5f0b91e974584415" /><Relationship Type="http://schemas.openxmlformats.org/officeDocument/2006/relationships/notesSlide" Target="/ppt/notesSlides/notesSlide3.xml" Id="R08d062241c1244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ac142fc7ec45de" /><Relationship Type="http://schemas.openxmlformats.org/officeDocument/2006/relationships/notesSlide" Target="/ppt/notesSlides/notesSlide4.xml" Id="R03197618acf844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a9574296042f9" /><Relationship Type="http://schemas.openxmlformats.org/officeDocument/2006/relationships/notesSlide" Target="/ppt/notesSlides/notesSlide5.xml" Id="R3476c213410843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2641b98d384674" /><Relationship Type="http://schemas.openxmlformats.org/officeDocument/2006/relationships/notesSlide" Target="/ppt/notesSlides/notesSlide6.xml" Id="Rc978ec91edf04b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5aa6d03b34055" /><Relationship Type="http://schemas.openxmlformats.org/officeDocument/2006/relationships/notesSlide" Target="/ppt/notesSlides/notesSlide7.xml" Id="R71ede2c171c34b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89f94d9e34476a" /><Relationship Type="http://schemas.openxmlformats.org/officeDocument/2006/relationships/notesSlide" Target="/ppt/notesSlides/notesSlide8.xml" Id="Rb39cd28a527f43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7968a3940a45f1" /><Relationship Type="http://schemas.openxmlformats.org/officeDocument/2006/relationships/notesSlide" Target="/ppt/notesSlides/notesSlide9.xml" Id="R14b7a9002de3485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ff1ae671414758" /><Relationship Type="http://schemas.openxmlformats.org/officeDocument/2006/relationships/notesSlide" Target="/ppt/notesSlides/notesSlide10.xml" Id="Rf71fdb760e3f4c1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a6b04470d24beb" /><Relationship Type="http://schemas.openxmlformats.org/officeDocument/2006/relationships/chart" Target="/ppt/slides/charts/chart1.xml" Id="R71f16d4fa2be479e" /><Relationship Type="http://schemas.openxmlformats.org/officeDocument/2006/relationships/chart" Target="/ppt/slides/charts/chart2.xml" Id="R973a94a8309a4e91" /><Relationship Type="http://schemas.openxmlformats.org/officeDocument/2006/relationships/notesSlide" Target="/ppt/notesSlides/notesSlide11.xml" Id="Rea6a834dcae040a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4549354ba0451d" /><Relationship Type="http://schemas.openxmlformats.org/officeDocument/2006/relationships/notesSlide" Target="/ppt/notesSlides/notesSlide12.xml" Id="R7cf8749e216048a4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GDP/PDRB per kapita (juta)</c:v>
          </c:tx>
          <c:spPr>
            <a:solidFill xmlns:a="http://schemas.openxmlformats.org/drawingml/2006/main">
              <a:srgbClr val="1B4D3E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Jakarta</c:v>
              </c:pt>
              <c:pt idx="1">
                <c:v>Kaltim</c:v>
              </c:pt>
              <c:pt idx="2">
                <c:v>Kaltara</c:v>
              </c:pt>
              <c:pt idx="3">
                <c:v>Riau</c:v>
              </c:pt>
              <c:pt idx="4">
                <c:v>Kepri</c:v>
              </c:pt>
            </c:strLit>
          </c:cat>
          <c:val>
            <c:numLit>
              <c:formatCode>General</c:formatCode>
              <c:ptCount val="5"/>
              <c:pt idx="0">
                <c:v>322.65</c:v>
              </c:pt>
              <c:pt idx="1">
                <c:v>215.81</c:v>
              </c:pt>
              <c:pt idx="2">
                <c:v>201.79</c:v>
              </c:pt>
              <c:pt idx="3">
                <c:v>154.52</c:v>
              </c:pt>
              <c:pt idx="4">
                <c:v>154.07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Avg GDP/PDRB per kapita</c:v>
          </c:tx>
          <c:spPr>
            <a:solidFill xmlns:a="http://schemas.openxmlformats.org/drawingml/2006/main">
              <a:srgbClr val="C49A3B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Jawa</c:v>
              </c:pt>
              <c:pt idx="1">
                <c:v>Sumatera</c:v>
              </c:pt>
              <c:pt idx="2">
                <c:v>Kalimantan</c:v>
              </c:pt>
              <c:pt idx="3">
                <c:v>Sulawesi</c:v>
              </c:pt>
              <c:pt idx="4">
                <c:v>Papua</c:v>
              </c:pt>
            </c:strLit>
          </c:cat>
          <c:val>
            <c:numLit>
              <c:formatCode>General</c:formatCode>
              <c:ptCount val="5"/>
              <c:pt idx="0">
                <c:v>101.02</c:v>
              </c:pt>
              <c:pt idx="1">
                <c:v>78.68</c:v>
              </c:pt>
              <c:pt idx="2">
                <c:v>121.09</c:v>
              </c:pt>
              <c:pt idx="3">
                <c:v>65.38</c:v>
              </c:pt>
              <c:pt idx="4">
                <c:v>35.05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14240B-E103-4178-8AA4-C5FF5D4D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D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130778-CE87-421D-80E4-0437015A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24000"/>
            <a:ext cx="971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600" b="1">
                <a:solidFill>
                  <a:srgbClr val="1B4D3E"/>
                </a:solidFill>
              </a:defRPr>
            </a:pPr>
            <a:r>
              <a:rPr sz="3600" b="1">
                <a:solidFill>
                  <a:srgbClr val="1B4D3E"/>
                </a:solidFill>
              </a:rPr>
              <a:t>Data Lakehouse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66D2D1-A412-4BE2-BB52-8F266915F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7650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B550D4-621C-4003-8951-347BA0CA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6225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0">
                <a:solidFill>
                  <a:srgbClr val="6B7B6E"/>
                </a:solidFill>
              </a:defRPr>
            </a:pPr>
            <a:r>
              <a:rPr sz="1950" b="0">
                <a:solidFill>
                  <a:srgbClr val="6B7B6E"/>
                </a:solidFill>
              </a:rPr>
              <a:t>Indonesia Demographics &amp; Economy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963EA5-7B9B-4977-9C71-C3F48D6D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337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6B7B6E"/>
                </a:solidFill>
              </a:defRPr>
            </a:pPr>
            <a:r>
              <a:rPr sz="1200" b="0">
                <a:solidFill>
                  <a:srgbClr val="6B7B6E"/>
                </a:solidFill>
              </a:rPr>
              <a:t>Final Project Data Engineering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067F57-2D8B-47F4-9AB6-9A369062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95750"/>
            <a:ext cx="590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500" b="0">
                <a:solidFill>
                  <a:srgbClr val="1A1A1A"/>
                </a:solidFill>
              </a:defRPr>
            </a:pPr>
            <a:r>
              <a:rPr sz="1500" b="0">
                <a:solidFill>
                  <a:srgbClr val="1A1A1A"/>
                </a:solidFill>
              </a:rPr>
              <a:t>Fahyi Nashaqi — 5026241171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500" b="0">
                <a:solidFill>
                  <a:srgbClr val="1A1A1A"/>
                </a:solidFill>
              </a:defRPr>
            </a:pPr>
            <a:r>
              <a:rPr sz="1500" b="0">
                <a:solidFill>
                  <a:srgbClr val="1A1A1A"/>
                </a:solidFill>
              </a:rPr>
              <a:t>Gelar Ridho Ramadhan — 5026241045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E0726-FF60-4087-9BE6-528544F4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D3E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740989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CC6BD3-F600-4A30-AA85-1123F17F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D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3A0713-9A11-4177-B566-8982F2CF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B7B6E"/>
                </a:solidFill>
              </a:defRPr>
            </a:pPr>
            <a:r>
              <a:rPr sz="900" b="1">
                <a:solidFill>
                  <a:srgbClr val="6B7B6E"/>
                </a:solidFill>
              </a:rPr>
              <a:t>PENDAHULUAN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24402F-2BCF-4A26-9EBE-04019C30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B4D3E"/>
                </a:solidFill>
              </a:defRPr>
            </a:pPr>
            <a:r>
              <a:rPr sz="2550" b="1">
                <a:solidFill>
                  <a:srgbClr val="1B4D3E"/>
                </a:solidFill>
              </a:rPr>
              <a:t>Latar Belakang, Masalah, dan Tujuan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2AFA5E-F082-4F62-905A-395F9A4A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7B7F36-7EEA-4660-80D6-D75A35A3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D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F69688-18A0-4044-8928-BD88EC58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6B7B6E"/>
                </a:solidFill>
              </a:defRPr>
            </a:pPr>
            <a:r>
              <a:rPr sz="900" b="0">
                <a:solidFill>
                  <a:srgbClr val="6B7B6E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530CA3-710D-4616-9EAA-D104A35F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3429000" cy="3619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8E8E0"/>
          </a:solidFill>
          <a:ln xmlns:a="http://schemas.openxmlformats.org/drawingml/2006/main" w="9525">
            <a:solidFill>
              <a:srgbClr val="D1D5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7968BF-C27D-409B-B49F-04110BE4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B4D3E"/>
                </a:solidFill>
              </a:defRPr>
            </a:pPr>
            <a:r>
              <a:rPr sz="1650" b="1">
                <a:solidFill>
                  <a:srgbClr val="1B4D3E"/>
                </a:solidFill>
              </a:rPr>
              <a:t>Latar Belakang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87C3A5-1895-4EFB-855B-283F19D6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300990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Indonesia memiliki 38 provinsi dengan karakter ekonomi dan demografi yang beragam. Data resmi tersedia, tetapi tersebar di beberapa sumber sehingga analisis regional membutuhkan integrasi.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AF9C2B-E2A2-477F-91AB-F13CA673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333500"/>
            <a:ext cx="3429000" cy="3619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8E8E0"/>
          </a:solidFill>
          <a:ln xmlns:a="http://schemas.openxmlformats.org/drawingml/2006/main" w="9525">
            <a:solidFill>
              <a:srgbClr val="D1D5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A72A96-8082-4B6C-9889-726A999D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5049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A15C38"/>
                </a:solidFill>
              </a:defRPr>
            </a:pPr>
            <a:r>
              <a:rPr sz="1650" b="1">
                <a:solidFill>
                  <a:srgbClr val="A15C38"/>
                </a:solidFill>
              </a:rPr>
              <a:t>Problem Statement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12CA1A-7A4F-4246-9642-4B2968FA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43100"/>
            <a:ext cx="300990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Data PDRB dan populasi provinsi 2019–2023 berada di BPS, sedangkan metadata provinsi berada di Wikidata. Tanpa pipeline terpusat, analisis tren, perbandingan, dan ketimpangan sulit direplikasi.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D6184E-596C-4407-8BC2-9649D73B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33500"/>
            <a:ext cx="3429000" cy="3619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8E8E0"/>
          </a:solidFill>
          <a:ln xmlns:a="http://schemas.openxmlformats.org/drawingml/2006/main" w="9525">
            <a:solidFill>
              <a:srgbClr val="D1D5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1EC4DD-BD03-4AC4-9A19-13BFA31C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B4D3E"/>
                </a:solidFill>
              </a:defRPr>
            </a:pPr>
            <a:r>
              <a:rPr sz="1650" b="1">
                <a:solidFill>
                  <a:srgbClr val="1B4D3E"/>
                </a:solidFill>
              </a:rPr>
              <a:t>Tujuan Project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007055-882D-47DB-8321-01D62807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43100"/>
            <a:ext cx="300990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Membangun Data Lakehouse berbasis MinIO + DuckDB dengan Bronze, Silver, dan Gold Layer agar data mentah dapat menjadi dataset analitik yang bersih, versioned, dan siap query.</a:t>
            </a:r>
          </a:p>
        </p:txBody>
      </p:sp>
    </p:spTree>
    <p:extLst>
      <p:ext uri="{BB962C8B-B14F-4D97-AF65-F5344CB8AC3E}">
        <p14:creationId xmlns:p14="http://schemas.microsoft.com/office/powerpoint/2010/main" val="13504258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9D52AF-E6A9-4588-B030-2475EA9E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D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200F33-41C6-478E-9B0C-493044B8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B7B6E"/>
                </a:solidFill>
              </a:defRPr>
            </a:pPr>
            <a:r>
              <a:rPr sz="900" b="1">
                <a:solidFill>
                  <a:srgbClr val="6B7B6E"/>
                </a:solidFill>
              </a:rPr>
              <a:t>SPESIFIKASI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6AC2D8-C8BD-4CFD-AC4B-A950BDC2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B4D3E"/>
                </a:solidFill>
              </a:defRPr>
            </a:pPr>
            <a:r>
              <a:rPr sz="2550" b="1">
                <a:solidFill>
                  <a:srgbClr val="1B4D3E"/>
                </a:solidFill>
              </a:rPr>
              <a:t>Sumber Data Asli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B41AEA-4EBA-477E-A632-92E43F4E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782B3A-AA8B-40FE-8B99-E2795DB6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D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D5C87E-32A2-4811-894C-F59EC998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6B7B6E"/>
                </a:solidFill>
              </a:defRPr>
            </a:pPr>
            <a:r>
              <a:rPr sz="900" b="0">
                <a:solidFill>
                  <a:srgbClr val="6B7B6E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01809A-8AB9-4B59-83CD-45718667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519112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8E8E0"/>
          </a:solidFill>
          <a:ln xmlns:a="http://schemas.openxmlformats.org/drawingml/2006/main" w="9525">
            <a:solidFill>
              <a:srgbClr val="D1D5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F01B28-F963-4149-B9ED-DCDBF4AE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09700"/>
            <a:ext cx="4772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B4D3E"/>
                </a:solidFill>
              </a:defRPr>
            </a:pPr>
            <a:r>
              <a:rPr sz="1650" b="1">
                <a:solidFill>
                  <a:srgbClr val="1B4D3E"/>
                </a:solidFill>
              </a:rPr>
              <a:t>Wikidata SPARQL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1A774C-E847-42F9-AB67-FD5BFBCC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47720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Endpoint: https://query.wikidata.org/sparql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Fitur: nama provinsi, ISO code, ibu kota, luas wilayah, koordinat, QID.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Format masuk: JSON dari SPARQL API → CSV Bronze.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503856-7A07-4ADE-994C-63F1F472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238250"/>
            <a:ext cx="519112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8E8E0"/>
          </a:solidFill>
          <a:ln xmlns:a="http://schemas.openxmlformats.org/drawingml/2006/main" w="9525">
            <a:solidFill>
              <a:srgbClr val="D1D5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5C4070-9E5D-40E7-A5CE-2B3AA4E5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409700"/>
            <a:ext cx="4772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C49A3B"/>
                </a:solidFill>
              </a:defRPr>
            </a:pPr>
            <a:r>
              <a:rPr sz="1650" b="1">
                <a:solidFill>
                  <a:srgbClr val="C49A3B"/>
                </a:solidFill>
              </a:rPr>
              <a:t>Badan Pusat Statistik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F0E347-A0D4-4ED0-9621-582109EF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847850"/>
            <a:ext cx="47720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Endpoint: webapi.bps.go.id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Fitur: PDRB harga berlaku, PDRB harga konstan, populasi.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Periode: 2019–2023. Format masuk: REST API → CSV Bronze.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3057ff55de4e22"/>
          <a:srcRect xmlns:a="http://schemas.openxmlformats.org/drawingml/2006/main" l="0" t="6214" r="0" b="62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333750"/>
            <a:ext cx="5191125" cy="2381250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0b91e974584415"/>
          <a:srcRect xmlns:a="http://schemas.openxmlformats.org/drawingml/2006/main" l="0" t="2779" r="0" b="27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29375" y="3333750"/>
            <a:ext cx="5191125" cy="2381250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5AD624-E609-494A-B4C6-154EE3EE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6B7B6E"/>
                </a:solidFill>
              </a:defRPr>
            </a:pPr>
            <a:r>
              <a:rPr sz="1050" b="0">
                <a:solidFill>
                  <a:srgbClr val="6B7B6E"/>
                </a:solidFill>
              </a:rPr>
              <a:t>Screenshot sumber data asli: Wikidata SPARQL dan BPS.</a:t>
            </a:r>
          </a:p>
        </p:txBody>
      </p:sp>
    </p:spTree>
    <p:extLst>
      <p:ext uri="{BB962C8B-B14F-4D97-AF65-F5344CB8AC3E}">
        <p14:creationId xmlns:p14="http://schemas.microsoft.com/office/powerpoint/2010/main" val="19002061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82F0D0-F018-4C53-BA24-D5333756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D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71CA20-58F3-49D3-A0B4-46CB7F6A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B7B6E"/>
                </a:solidFill>
              </a:defRPr>
            </a:pPr>
            <a:r>
              <a:rPr sz="900" b="1">
                <a:solidFill>
                  <a:srgbClr val="6B7B6E"/>
                </a:solidFill>
              </a:rPr>
              <a:t>SPESIFIKASI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079E4-D909-4BE5-AA2F-6DC187C3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B4D3E"/>
                </a:solidFill>
              </a:defRPr>
            </a:pPr>
            <a:r>
              <a:rPr sz="2550" b="1">
                <a:solidFill>
                  <a:srgbClr val="1B4D3E"/>
                </a:solidFill>
              </a:rPr>
              <a:t>Data Dictionary dan Volume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8FCDFE-B429-4EAF-9E05-47D60660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7303C9-60EC-4BC8-9C7C-256790DA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D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9DBDD5-3A88-4564-9103-291BB128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6B7B6E"/>
                </a:solidFill>
              </a:defRPr>
            </a:pPr>
            <a:r>
              <a:rPr sz="900" b="0">
                <a:solidFill>
                  <a:srgbClr val="6B7B6E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DC50BB-97B1-4B88-AB08-60097B57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A98653-87FF-4C60-A613-39949067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B4D3E"/>
                </a:solidFill>
              </a:defRPr>
            </a:pPr>
            <a:r>
              <a:rPr sz="2250" b="1">
                <a:solidFill>
                  <a:srgbClr val="1B4D3E"/>
                </a:solidFill>
              </a:rPr>
              <a:t>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51368B-37F4-4C59-AD5C-1CBA9869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716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A1A1A"/>
                </a:solidFill>
              </a:defRPr>
            </a:pPr>
            <a:r>
              <a:rPr sz="1050" b="1">
                <a:solidFill>
                  <a:srgbClr val="1A1A1A"/>
                </a:solidFill>
              </a:rPr>
              <a:t>Provinsi aktif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06036E-EB41-4E6B-929A-7B2F5985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6B7B6E"/>
                </a:solidFill>
              </a:defRPr>
            </a:pPr>
            <a:r>
              <a:rPr sz="900" b="0">
                <a:solidFill>
                  <a:srgbClr val="6B7B6E"/>
                </a:solidFill>
              </a:rPr>
              <a:t>dim_province Gold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1205BF-E571-4377-931C-67CF3D40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238250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4DB705-2845-4D25-98E1-307798AE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3906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B4D3E"/>
                </a:solidFill>
              </a:defRPr>
            </a:pPr>
            <a:r>
              <a:rPr sz="2250" b="1">
                <a:solidFill>
                  <a:srgbClr val="1B4D3E"/>
                </a:solidFill>
              </a:rPr>
              <a:t>2019–2023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7AA2E5-9137-456D-8AE8-D73D4D95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716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A1A1A"/>
                </a:solidFill>
              </a:defRPr>
            </a:pPr>
            <a:r>
              <a:rPr sz="1050" b="1">
                <a:solidFill>
                  <a:srgbClr val="1A1A1A"/>
                </a:solidFill>
              </a:rPr>
              <a:t>Tahun analisis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84A90F-BA06-4330-9194-93F4582F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5265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6B7B6E"/>
                </a:solidFill>
              </a:defRPr>
            </a:pPr>
            <a:r>
              <a:rPr sz="900" b="0">
                <a:solidFill>
                  <a:srgbClr val="6B7B6E"/>
                </a:solidFill>
              </a:rPr>
              <a:t>dim_year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6AB279-19A1-4164-8C42-1FB5157E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238250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D95D72-3B63-4EB0-BCB2-B4E5CD36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3906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B4D3E"/>
                </a:solidFill>
              </a:defRPr>
            </a:pPr>
            <a:r>
              <a:rPr sz="2250" b="1">
                <a:solidFill>
                  <a:srgbClr val="1B4D3E"/>
                </a:solidFill>
              </a:rPr>
              <a:t>174 rows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E1FF0E-17AE-4907-8101-620D267C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7716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A1A1A"/>
                </a:solidFill>
              </a:defRPr>
            </a:pPr>
            <a:r>
              <a:rPr sz="1050" b="1">
                <a:solidFill>
                  <a:srgbClr val="1A1A1A"/>
                </a:solidFill>
              </a:rPr>
              <a:t>BPS PDRB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B9993C-5671-4A4C-B007-50E50344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15265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6B7B6E"/>
                </a:solidFill>
              </a:defRPr>
            </a:pPr>
            <a:r>
              <a:rPr sz="900" b="0">
                <a:solidFill>
                  <a:srgbClr val="6B7B6E"/>
                </a:solidFill>
              </a:rPr>
              <a:t>hasil ingestion live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19781C-D37D-44AB-BE20-95AF61BA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38250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6B4860-8938-43A4-AB08-04EC4543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3906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B4D3E"/>
                </a:solidFill>
              </a:defRPr>
            </a:pPr>
            <a:r>
              <a:rPr sz="2250" b="1">
                <a:solidFill>
                  <a:srgbClr val="1B4D3E"/>
                </a:solidFill>
              </a:rPr>
              <a:t>170 rows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301B2A-E9DC-471F-8696-0596A377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716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A1A1A"/>
                </a:solidFill>
              </a:defRPr>
            </a:pPr>
            <a:r>
              <a:rPr sz="1050" b="1">
                <a:solidFill>
                  <a:srgbClr val="1A1A1A"/>
                </a:solidFill>
              </a:rPr>
              <a:t>BPS Populasi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F96E3E-AB5C-4C4C-B4F0-3FAAE8FD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5265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6B7B6E"/>
                </a:solidFill>
              </a:defRPr>
            </a:pPr>
            <a:r>
              <a:rPr sz="900" b="0">
                <a:solidFill>
                  <a:srgbClr val="6B7B6E"/>
                </a:solidFill>
              </a:rPr>
              <a:t>hasil ingestion live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C7F8D0-5901-4A6C-B077-1A95E82E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11049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4B5E5A-A147-4B4A-8E17-68FEFD27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D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BDA518-8A8C-43AD-AF86-37CF349D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Dataset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E44927-EE62-4429-8648-31A81460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57500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D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1567CA-F896-444F-952D-D6A6BB2F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33700"/>
            <a:ext cx="480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Variabel utama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F89922-7CF5-4C0C-BFC5-F87DF224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57500"/>
            <a:ext cx="361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D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0054C4-6384-420A-8792-4F9DFEE5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33700"/>
            <a:ext cx="3467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Keterangan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EF455F-BF26-4576-B79C-6097111A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7660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1D5C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99A3C0-E732-4E02-8A61-753F3A65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</a:rPr>
              <a:t>Wikidata Provinces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FD109A-19B5-410A-A6E8-3398A682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76600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1D5C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D31C4A-8065-43DD-A4A9-21AD730E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52800"/>
            <a:ext cx="480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</a:rPr>
              <a:t>province_name, iso_code, area_km2, latitude, longitude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F31334-B881-4E45-9549-34F42F9F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76600"/>
            <a:ext cx="361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1D5C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0E1BD0-D94E-4EDA-9B42-CBB9171B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52800"/>
            <a:ext cx="3467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</a:rPr>
              <a:t>Referensi provinsi dan metadata spasial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2425D3-FD6F-43E0-AB9B-7ACA489B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9570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8E0"/>
          </a:solidFill>
          <a:ln xmlns:a="http://schemas.openxmlformats.org/drawingml/2006/main" w="5715">
            <a:solidFill>
              <a:srgbClr val="D1D5C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37DC2E-C2E3-4135-920C-754DF209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</a:rPr>
              <a:t>BPS PDRB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948AB1-6098-452C-977C-7E975F56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95700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8E0"/>
          </a:solidFill>
          <a:ln xmlns:a="http://schemas.openxmlformats.org/drawingml/2006/main" w="5715">
            <a:solidFill>
              <a:srgbClr val="D1D5C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A088B82-E5BE-4900-9D6A-218A7AB5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71900"/>
            <a:ext cx="480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</a:rPr>
              <a:t>pdrb_harga_berlaku, pdrb_harga_konstan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F177AC-FAFD-4A85-8103-C40639BC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95700"/>
            <a:ext cx="361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8E0"/>
          </a:solidFill>
          <a:ln xmlns:a="http://schemas.openxmlformats.org/drawingml/2006/main" w="5715">
            <a:solidFill>
              <a:srgbClr val="D1D5C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C900C5F-9EFA-4A53-99B1-FF8441FD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71900"/>
            <a:ext cx="3467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</a:rPr>
              <a:t>Nilai PDRB miliar rupiah per provinsi/tahun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07A8483-4260-48F0-9DB9-CB76EC1C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1480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1D5C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1EB9746-3147-45D1-845F-457E51F7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</a:rPr>
              <a:t>BPS Populasi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659BB08-AB40-47E9-B8BC-9BCEC2F2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14800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1D5C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7000C62-9E61-4E36-9F5F-01C45298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191000"/>
            <a:ext cx="480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</a:rPr>
              <a:t>jumlah_penduduk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E146DE8-6637-460A-A33A-DC4847BB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14800"/>
            <a:ext cx="361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1D5C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ABBDEB9-9647-4396-B69E-B7BFCFD0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91000"/>
            <a:ext cx="3467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</a:rPr>
              <a:t>Populasi dalam jiwa; angka API BPS dikonversi dari ribu jiwa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64557AF-E115-4972-A5DC-49348AFC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3390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8E0"/>
          </a:solidFill>
          <a:ln xmlns:a="http://schemas.openxmlformats.org/drawingml/2006/main" w="5715">
            <a:solidFill>
              <a:srgbClr val="D1D5C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55057EB-119D-4A88-BE62-52BFC422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</a:rPr>
              <a:t>Gold Fact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BBE4AEB-7DD4-46A6-8871-E74BF38D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33900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8E0"/>
          </a:solidFill>
          <a:ln xmlns:a="http://schemas.openxmlformats.org/drawingml/2006/main" w="5715">
            <a:solidFill>
              <a:srgbClr val="D1D5C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EF1EB33-C7C6-4F21-BD18-D1766C38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610100"/>
            <a:ext cx="480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</a:rPr>
              <a:t>gdp_current_price, population, gdp_per_capita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409688F-E010-4557-9EF5-5029D7D9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33900"/>
            <a:ext cx="361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8E0"/>
          </a:solidFill>
          <a:ln xmlns:a="http://schemas.openxmlformats.org/drawingml/2006/main" w="5715">
            <a:solidFill>
              <a:srgbClr val="D1D5C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7DD8628-65A4-4403-B66D-0AEFDA5F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10100"/>
            <a:ext cx="3467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</a:rPr>
              <a:t>Tabel analitik gabungan untuk query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35D52CA-395B-4018-AFE0-F13E9AC5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78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0">
                <a:solidFill>
                  <a:srgbClr val="A15C38"/>
                </a:solidFill>
              </a:defRPr>
            </a:pPr>
            <a:r>
              <a:rPr sz="1125" b="0">
                <a:solidFill>
                  <a:srgbClr val="A15C38"/>
                </a:solidFill>
              </a:rPr>
              <a:t>Catatan: pada endpoint BPS populasi, 4 provinsi DOB Papua baru memiliki nilai populasi kosong untuk 2023.</a:t>
            </a:r>
          </a:p>
        </p:txBody>
      </p:sp>
    </p:spTree>
    <p:extLst>
      <p:ext uri="{BB962C8B-B14F-4D97-AF65-F5344CB8AC3E}">
        <p14:creationId xmlns:p14="http://schemas.microsoft.com/office/powerpoint/2010/main" val="19753015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E80DC6-269A-46E2-9821-F2E870B8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D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BE644-E1A5-49FA-AA09-E2F650ED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B7B6E"/>
                </a:solidFill>
              </a:defRPr>
            </a:pPr>
            <a:r>
              <a:rPr sz="900" b="1">
                <a:solidFill>
                  <a:srgbClr val="6B7B6E"/>
                </a:solidFill>
              </a:rPr>
              <a:t>METODE LAKEHOUSE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55DC48-4EF2-43F6-B471-F459F3D2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B4D3E"/>
                </a:solidFill>
              </a:defRPr>
            </a:pPr>
            <a:r>
              <a:rPr sz="2550" b="1">
                <a:solidFill>
                  <a:srgbClr val="1B4D3E"/>
                </a:solidFill>
              </a:rPr>
              <a:t>Arsitektur Bucket MinIO dan Medallion Layer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D23B23-86FF-4B24-B9B4-34845814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CCAAF1-B71A-4580-8C9A-5FB8323D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D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A70F92-C88B-42C1-A719-1692AF6F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6B7B6E"/>
                </a:solidFill>
              </a:defRPr>
            </a:pPr>
            <a:r>
              <a:rPr sz="900" b="0">
                <a:solidFill>
                  <a:srgbClr val="6B7B6E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43B9BC-365B-45F9-BEB4-E5F6F5C2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2857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8E8E0"/>
          </a:solidFill>
          <a:ln xmlns:a="http://schemas.openxmlformats.org/drawingml/2006/main" w="9525">
            <a:solidFill>
              <a:srgbClr val="D1D5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6963E1-7975-419A-8CFF-ED8B3363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B87333"/>
                </a:solidFill>
              </a:defRPr>
            </a:pPr>
            <a:r>
              <a:rPr sz="1650" b="1">
                <a:solidFill>
                  <a:srgbClr val="B87333"/>
                </a:solidFill>
              </a:rPr>
              <a:t>Bronze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1680C2-C4B0-484E-803F-FE314750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24384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Prefix: bronze/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Data mentah CSV dari API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Manifest metadata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Checksum latest.md5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61AB60-334D-4A31-BE56-76FB2983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19250"/>
            <a:ext cx="2857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8E8E0"/>
          </a:solidFill>
          <a:ln xmlns:a="http://schemas.openxmlformats.org/drawingml/2006/main" w="9525">
            <a:solidFill>
              <a:srgbClr val="D1D5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9BDC1C-5C87-4AF8-A991-410DA5CA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79070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7C8791"/>
                </a:solidFill>
              </a:defRPr>
            </a:pPr>
            <a:r>
              <a:rPr sz="1650" b="1">
                <a:solidFill>
                  <a:srgbClr val="7C8791"/>
                </a:solidFill>
              </a:rPr>
              <a:t>Silver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249ABE-1233-41CF-AB3B-87FF6883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228850"/>
            <a:ext cx="24384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Prefix: silver/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Data bersih Parquet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Standardisasi nama/tipe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Delta Log versioning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45808B-CDEB-4CE3-8E97-A861826C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19250"/>
            <a:ext cx="2857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8E8E0"/>
          </a:solidFill>
          <a:ln xmlns:a="http://schemas.openxmlformats.org/drawingml/2006/main" w="9525">
            <a:solidFill>
              <a:srgbClr val="D1D5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F691F3-F22E-4160-BBCC-EA6677CF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9070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C49A3B"/>
                </a:solidFill>
              </a:defRPr>
            </a:pPr>
            <a:r>
              <a:rPr sz="1650" b="1">
                <a:solidFill>
                  <a:srgbClr val="C49A3B"/>
                </a:solidFill>
              </a:rPr>
              <a:t>Gold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97642C-4A64-47CB-B46F-3409467C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28850"/>
            <a:ext cx="24384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Prefix: gold/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Star Schema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Dimensi + fact table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Siap query analitik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6D25F3-33E1-40ED-A927-AC04369B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81250"/>
            <a:ext cx="85725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7B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5ABE1C-0125-45F8-B5FC-7C1357E3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85725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7B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2AC533-E081-4F48-8BC9-F0C273DC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76750"/>
            <a:ext cx="8953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8E8E0"/>
          </a:solidFill>
          <a:ln xmlns:a="http://schemas.openxmlformats.org/drawingml/2006/main" w="9525">
            <a:solidFill>
              <a:srgbClr val="D1D5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5177DD-D56D-40E6-AFF1-70799C29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648200"/>
            <a:ext cx="853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B4D3E"/>
                </a:solidFill>
              </a:defRPr>
            </a:pPr>
            <a:r>
              <a:rPr sz="1650" b="1">
                <a:solidFill>
                  <a:srgbClr val="1B4D3E"/>
                </a:solidFill>
              </a:rPr>
              <a:t>Teknologi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1C5A6C-1407-427B-8A8B-CB3EA0A6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086350"/>
            <a:ext cx="8534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Docker Compose menjalankan MinIO. Python melakukan ingestion/transformasi. DuckDB membaca Gold Parquet dan mengeksekusi query analitik.</a:t>
            </a:r>
          </a:p>
        </p:txBody>
      </p:sp>
    </p:spTree>
    <p:extLst>
      <p:ext uri="{BB962C8B-B14F-4D97-AF65-F5344CB8AC3E}">
        <p14:creationId xmlns:p14="http://schemas.microsoft.com/office/powerpoint/2010/main" val="5081843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6687AB-697B-4473-909B-081A4020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D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54EB83-36F6-4B6B-80A0-AEE6A125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B7B6E"/>
                </a:solidFill>
              </a:defRPr>
            </a:pPr>
            <a:r>
              <a:rPr sz="900" b="1">
                <a:solidFill>
                  <a:srgbClr val="6B7B6E"/>
                </a:solidFill>
              </a:rPr>
              <a:t>METODE LAKEHOUSE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14362B-0738-4AEF-BA7E-10519B8A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B4D3E"/>
                </a:solidFill>
              </a:defRPr>
            </a:pPr>
            <a:r>
              <a:rPr sz="2550" b="1">
                <a:solidFill>
                  <a:srgbClr val="1B4D3E"/>
                </a:solidFill>
              </a:rPr>
              <a:t>Idempotency, Versioning, dan Auditability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C0DBD8-3290-440D-8B31-28EECFCA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1BF1CC-AF3E-4274-915D-67EABADE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D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8247CC-21C6-4EF9-87AC-A9C1E2D6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6B7B6E"/>
                </a:solidFill>
              </a:defRPr>
            </a:pPr>
            <a:r>
              <a:rPr sz="900" b="0">
                <a:solidFill>
                  <a:srgbClr val="6B7B6E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82910B-A016-4656-9EB1-5D4D0572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3333750" cy="36195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E8E8E0"/>
          </a:solidFill>
          <a:ln xmlns:a="http://schemas.openxmlformats.org/drawingml/2006/main" w="9525">
            <a:solidFill>
              <a:srgbClr val="D1D5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25BBE7-4182-4376-9A15-D337341E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B4D3E"/>
                </a:solidFill>
              </a:defRPr>
            </a:pPr>
            <a:r>
              <a:rPr sz="1650" b="1">
                <a:solidFill>
                  <a:srgbClr val="1B4D3E"/>
                </a:solidFill>
              </a:rPr>
              <a:t>Idempotency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FF178C-A9C2-488F-8737-0BF551D8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291465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Setiap dataframe dihitung MD5 checksum. Jika data belum berubah, upload Bronze dilewati sehingga pipeline aman dijalankan berulang.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F962DC-A541-4F1F-BEA4-AAB30473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333500"/>
            <a:ext cx="3333750" cy="36195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E8E8E0"/>
          </a:solidFill>
          <a:ln xmlns:a="http://schemas.openxmlformats.org/drawingml/2006/main" w="9525">
            <a:solidFill>
              <a:srgbClr val="D1D5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9832FB-6F4E-426C-8003-37D98832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504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C49A3B"/>
                </a:solidFill>
              </a:defRPr>
            </a:pPr>
            <a:r>
              <a:rPr sz="1650" b="1">
                <a:solidFill>
                  <a:srgbClr val="C49A3B"/>
                </a:solidFill>
              </a:rPr>
              <a:t>Versioning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FB4600-701E-422F-AF19-95210CDA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943100"/>
            <a:ext cx="291465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Silver Layer membuat backup versi sebelumnya dan menulis Delta Log sederhana berisi version, timestamp, schema, checksum, dan record count.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43C35D-F1D3-4832-B32D-C652DEED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333500"/>
            <a:ext cx="3333750" cy="36195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E8E8E0"/>
          </a:solidFill>
          <a:ln xmlns:a="http://schemas.openxmlformats.org/drawingml/2006/main" w="9525">
            <a:solidFill>
              <a:srgbClr val="D1D5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E4833A-89C5-4BCC-8F32-26AF2B4F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504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B4D3E"/>
                </a:solidFill>
              </a:defRPr>
            </a:pPr>
            <a:r>
              <a:rPr sz="1650" b="1">
                <a:solidFill>
                  <a:srgbClr val="1B4D3E"/>
                </a:solidFill>
              </a:rPr>
              <a:t>Custom Metadata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79F174-C795-443D-9659-D9CE50F7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43100"/>
            <a:ext cx="291465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Bronze Layer menyisipkan ingestion_timestamp, source_name, operator_id, dan manifest JSON untuk kebutuhan audit ETL.</a:t>
            </a:r>
          </a:p>
        </p:txBody>
      </p:sp>
    </p:spTree>
    <p:extLst>
      <p:ext uri="{BB962C8B-B14F-4D97-AF65-F5344CB8AC3E}">
        <p14:creationId xmlns:p14="http://schemas.microsoft.com/office/powerpoint/2010/main" val="11486165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1684D0-C459-46E6-B67D-42B8FABB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D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8BA89D-149F-4505-A9FB-A26441A6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B7B6E"/>
                </a:solidFill>
              </a:defRPr>
            </a:pPr>
            <a:r>
              <a:rPr sz="900" b="1">
                <a:solidFill>
                  <a:srgbClr val="6B7B6E"/>
                </a:solidFill>
              </a:rPr>
              <a:t>METODE LAKEHOUSE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2DA66C-0D36-4B61-A24C-3369152D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B4D3E"/>
                </a:solidFill>
              </a:defRPr>
            </a:pPr>
            <a:r>
              <a:rPr sz="2550" b="1">
                <a:solidFill>
                  <a:srgbClr val="1B4D3E"/>
                </a:solidFill>
              </a:rPr>
              <a:t>ERD Gold Layer — Star Schema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BA6F51-FC7A-413D-8FC0-D5704753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E1229F-1BA9-43EB-9575-B77E483F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D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8D74FD-38C5-4E58-BD3D-4BC555F6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6B7B6E"/>
                </a:solidFill>
              </a:defRPr>
            </a:pPr>
            <a:r>
              <a:rPr sz="900" b="0">
                <a:solidFill>
                  <a:srgbClr val="6B7B6E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AB3159-354E-4198-BC7E-6C7F4EE4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33625"/>
            <a:ext cx="3810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8E8E0"/>
          </a:solidFill>
          <a:ln xmlns:a="http://schemas.openxmlformats.org/drawingml/2006/main" w="9525">
            <a:solidFill>
              <a:srgbClr val="D1D5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4F7280-D09C-441B-97E6-F80E75CB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05075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C49A3B"/>
                </a:solidFill>
              </a:defRPr>
            </a:pPr>
            <a:r>
              <a:rPr sz="1650" b="1">
                <a:solidFill>
                  <a:srgbClr val="C49A3B"/>
                </a:solidFill>
              </a:rPr>
              <a:t>fact_economics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45312D-2C00-438D-A5E2-69F080CE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43225"/>
            <a:ext cx="3390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economics_id PK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province_id FK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year_id FK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gdp_current_price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gdp_constant_price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population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gdp_per_capita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657681-83AA-44F0-9B68-DA9D77EA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E8E0"/>
          </a:solidFill>
          <a:ln xmlns:a="http://schemas.openxmlformats.org/drawingml/2006/main" w="9525">
            <a:solidFill>
              <a:srgbClr val="D1D5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04D273-2A8F-4C0D-B105-92AC27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B4D3E"/>
                </a:solidFill>
              </a:defRPr>
            </a:pPr>
            <a:r>
              <a:rPr sz="1650" b="1">
                <a:solidFill>
                  <a:srgbClr val="1B4D3E"/>
                </a:solidFill>
              </a:rPr>
              <a:t>dim_province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8095EC-1018-40CB-A58B-099FFB93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2438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province_id PK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province_name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province_name_en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iso_code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area_km2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latitude, longitude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66F9C3-4F41-42B7-BAC4-50443912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24000"/>
            <a:ext cx="2857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8E8E0"/>
          </a:solidFill>
          <a:ln xmlns:a="http://schemas.openxmlformats.org/drawingml/2006/main" w="9525">
            <a:solidFill>
              <a:srgbClr val="D1D5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1C3529-E989-461E-BD8B-4B7F3F4C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6954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B4D3E"/>
                </a:solidFill>
              </a:defRPr>
            </a:pPr>
            <a:r>
              <a:rPr sz="1650" b="1">
                <a:solidFill>
                  <a:srgbClr val="1B4D3E"/>
                </a:solidFill>
              </a:rPr>
              <a:t>dim_year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589E69-367A-4ABB-8F2A-0C02E32E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336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year_id PK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year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decade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is_census_year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0B92E1-0001-4CCF-A624-9EB49844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285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E8E0"/>
          </a:solidFill>
          <a:ln xmlns:a="http://schemas.openxmlformats.org/drawingml/2006/main" w="9525">
            <a:solidFill>
              <a:srgbClr val="D1D5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B86DB5-C5BA-4743-87DA-AB6443F9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B4D3E"/>
                </a:solidFill>
              </a:defRPr>
            </a:pPr>
            <a:r>
              <a:rPr sz="1650" b="1">
                <a:solidFill>
                  <a:srgbClr val="1B4D3E"/>
                </a:solidFill>
              </a:rPr>
              <a:t>dim_indicator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93BFA6-F055-42A1-A9B6-15524959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91100"/>
            <a:ext cx="243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indicator_id PK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indicator_name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indicator_type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unit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3524250" y="2095500"/>
            <a:ext cx="66675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B7B6E"/>
            </a:solidFill>
            <a:prstDash val="solid"/>
          </a:ln>
        </p:spPr>
      </p:cxnSp>
      <p:cxnSp>
        <p:nvCxnSpPr>
          <p:cNvPr id="41" name=""/>
          <p:cNvCxnSpPr/>
          <p:nvPr/>
        </p:nvCxnSpPr>
        <p:spPr>
          <a:xfrm xmlns:a="http://schemas.openxmlformats.org/drawingml/2006/main">
            <a:off x="8001000" y="2286000"/>
            <a:ext cx="66675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B7B6E"/>
            </a:solidFill>
            <a:prstDash val="solid"/>
          </a:ln>
        </p:spPr>
      </p:cxnSp>
      <p:cxnSp>
        <p:nvCxnSpPr>
          <p:cNvPr id="42" name=""/>
          <p:cNvCxnSpPr/>
          <p:nvPr/>
        </p:nvCxnSpPr>
        <p:spPr>
          <a:xfrm xmlns:a="http://schemas.openxmlformats.org/drawingml/2006/main">
            <a:off x="3524250" y="4953000"/>
            <a:ext cx="666750" cy="-1333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B7B6E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1953979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4DA889-EF11-41F0-84E9-25064452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D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F74AB3-13F8-4A3F-AE2A-05987DD6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B7B6E"/>
                </a:solidFill>
              </a:defRPr>
            </a:pPr>
            <a:r>
              <a:rPr sz="900" b="1">
                <a:solidFill>
                  <a:srgbClr val="6B7B6E"/>
                </a:solidFill>
              </a:rPr>
              <a:t>METODE LAKEHOUSE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DB9BC0-4288-4235-AAED-F6A4CFFD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B4D3E"/>
                </a:solidFill>
              </a:defRPr>
            </a:pPr>
            <a:r>
              <a:rPr sz="2550" b="1">
                <a:solidFill>
                  <a:srgbClr val="1B4D3E"/>
                </a:solidFill>
              </a:rPr>
              <a:t>Daftar 6 Query Analitik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8B45E-5694-4BA7-A8BE-E3889A7C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988AC6-3636-4EDD-96CD-F48D42F2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D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F6358C-667B-44AA-8FF1-D4F913C0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6B7B6E"/>
                </a:solidFill>
              </a:defRPr>
            </a:pPr>
            <a:r>
              <a:rPr sz="900" b="0">
                <a:solidFill>
                  <a:srgbClr val="6B7B6E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800FA-63D7-4FD5-9C15-1E492D1C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1049000" cy="4133850"/>
          </a:xfrm>
          <a:prstGeom xmlns:a="http://schemas.openxmlformats.org/drawingml/2006/main" prst="roundRect">
            <a:avLst>
              <a:gd name="adj" fmla="val 1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9448F0-E9AB-4C12-8D04-1A9C6E11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D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6D0CC0-F360-46D7-A1BB-94D5BEB8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No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F1B4B0-69DE-4A30-8144-A1766698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33350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D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B9DF54-0A6C-4049-A5D1-C2B58539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409700"/>
            <a:ext cx="299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Query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9146E3-9B32-4B19-8703-1FF53794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333500"/>
            <a:ext cx="533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D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43B98F-4EBB-4AC5-88EB-2D4C8EDC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409700"/>
            <a:ext cx="518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Tujuan analisis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693C26-E4EC-428C-8794-678AEA39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3335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D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EAC0B2-3E48-428A-9A8A-D6015266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409700"/>
            <a:ext cx="1752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C9EE1E-B0ED-4660-AF76-069CFB60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2405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1D5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2D50D3-D06D-49D5-BA03-210E8C0D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112F35-CDD9-486C-BEEE-1DF7BCD1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2405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1D5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106E79-3FB7-4209-96D1-6BF19A1F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00250"/>
            <a:ext cx="299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</a:rPr>
              <a:t>Top 5 GDP/PDRB per kapita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F9CFD2-CCDB-43C1-AC5E-A2B438CA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24050"/>
            <a:ext cx="533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1D5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B419C3-06C5-4A25-8003-147109D7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00250"/>
            <a:ext cx="518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</a:rPr>
              <a:t>Melihat provinsi paling produktif secara ekonomi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CAAF97-FA32-4BD8-8573-746F77DE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9240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1D5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1D7D24-827D-4E7D-901A-D1EB91DE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00250"/>
            <a:ext cx="1752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</a:rPr>
              <a:t>Fahyi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B58F62-DADB-479A-832A-D0D3F116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146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8E0"/>
          </a:solidFill>
          <a:ln xmlns:a="http://schemas.openxmlformats.org/drawingml/2006/main" w="5715">
            <a:solidFill>
              <a:srgbClr val="D1D5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B0DD40-48BE-4F25-86A1-C4226C27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90800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B24D5E-BAAB-405C-ADD2-4F6E610C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1460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8E0"/>
          </a:solidFill>
          <a:ln xmlns:a="http://schemas.openxmlformats.org/drawingml/2006/main" w="5715">
            <a:solidFill>
              <a:srgbClr val="D1D5C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73F440-BEA5-4347-9BF2-A7E0C37E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90800"/>
            <a:ext cx="299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</a:rPr>
              <a:t>Rata-rata GDP/PDRB per pulau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FE5F4A-3326-496A-B0D2-C5A0F948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14600"/>
            <a:ext cx="533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8E0"/>
          </a:solidFill>
          <a:ln xmlns:a="http://schemas.openxmlformats.org/drawingml/2006/main" w="5715">
            <a:solidFill>
              <a:srgbClr val="D1D5C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E36934-A7BF-4155-ABB0-4837CDB1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90800"/>
            <a:ext cx="518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</a:rPr>
              <a:t>Membandingkan kekuatan ekonomi regional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346C04-4486-4A16-9E8B-2920853D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146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8E0"/>
          </a:solidFill>
          <a:ln xmlns:a="http://schemas.openxmlformats.org/drawingml/2006/main" w="5715">
            <a:solidFill>
              <a:srgbClr val="D1D5C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15AFDA-6AC0-43D9-BF32-29AAEC96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590800"/>
            <a:ext cx="1752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</a:rPr>
              <a:t>Fahyi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07B230-5BE9-4739-9DE5-A0A116DB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0515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1D5C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C63B35-1192-4BCB-AF96-FBB3C177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81350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5B5A0E-CF7B-4E89-994C-C03341E7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0515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1D5C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8BA840-9A00-4E12-83C6-D6CC4F01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81350"/>
            <a:ext cx="299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</a:rPr>
              <a:t>YoY growth provinsi Jawa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3A6AC5-CE6C-4313-AB2F-4D0C41D1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05150"/>
            <a:ext cx="533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1D5C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28EB51-7754-47EA-8928-6261439D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81350"/>
            <a:ext cx="518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</a:rPr>
              <a:t>Menganalisis tren pertumbuhan 2019–2023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66E26E-B200-4A1C-ACFF-C0F82401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051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1D5C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C74A532-0116-464E-BBD9-A8DE1C2D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181350"/>
            <a:ext cx="1752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</a:rPr>
              <a:t>Fahyi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919DF0-BC58-4A0D-BB4B-6E4A301A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957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8E0"/>
          </a:solidFill>
          <a:ln xmlns:a="http://schemas.openxmlformats.org/drawingml/2006/main" w="5715">
            <a:solidFill>
              <a:srgbClr val="D1D5C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E522F92-6268-44F2-AFC7-41F14D0E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</a:rPr>
              <a:t>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B64A529-0708-4FD5-BDED-EEC5A82B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9570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8E0"/>
          </a:solidFill>
          <a:ln xmlns:a="http://schemas.openxmlformats.org/drawingml/2006/main" w="5715">
            <a:solidFill>
              <a:srgbClr val="D1D5C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E2B2D2A-F979-45F8-972F-99553ABF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71900"/>
            <a:ext cx="299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</a:rPr>
              <a:t>Tren populasi nasional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9E5DC8F-1489-44B5-81CA-CEC1FC73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95700"/>
            <a:ext cx="533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8E0"/>
          </a:solidFill>
          <a:ln xmlns:a="http://schemas.openxmlformats.org/drawingml/2006/main" w="5715">
            <a:solidFill>
              <a:srgbClr val="D1D5C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CD46246-D97E-4F19-81D8-6026A8B2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71900"/>
            <a:ext cx="518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</a:rPr>
              <a:t>Melihat perubahan populasi dan rata-rata GDP per kapita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26C2D0D-D252-46DC-A092-5E3D6E32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957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8E0"/>
          </a:solidFill>
          <a:ln xmlns:a="http://schemas.openxmlformats.org/drawingml/2006/main" w="5715">
            <a:solidFill>
              <a:srgbClr val="D1D5C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361C63F-75EB-460A-A055-2D976F5B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771900"/>
            <a:ext cx="1752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</a:rPr>
              <a:t>Gelar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4E211F4-00ED-43D9-B1DC-0C688D08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1D5C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BBB3393-FCA2-437B-A0B2-3404825E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62450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</a:rPr>
              <a:t>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C7B7FD0-71A3-4C32-8B38-ABC9C91B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8625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1D5C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D4D8100-789B-43D6-A289-1D5CF37E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62450"/>
            <a:ext cx="299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</a:rPr>
              <a:t>Atas/bawah rata-rata nasional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22913BF-056C-437E-803D-E99AB536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86250"/>
            <a:ext cx="533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1D5C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2FC4879-667B-4085-95F0-63CAB8F0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362450"/>
            <a:ext cx="518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</a:rPr>
              <a:t>Mengukur ketimpangan GDP per kapita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6EA3955-2300-4745-A3BE-F255421C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862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1D5C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163A052-6221-4DEC-8150-391E3252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362450"/>
            <a:ext cx="1752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</a:rPr>
              <a:t>Gelar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5A17A60-2F90-4254-8BCB-1604B8EA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8E0"/>
          </a:solidFill>
          <a:ln xmlns:a="http://schemas.openxmlformats.org/drawingml/2006/main" w="5715">
            <a:solidFill>
              <a:srgbClr val="D1D5C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58011C5-2262-4904-8002-20E954E4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0AED4BE-EEFD-4143-BDE8-520B37EE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7680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8E0"/>
          </a:solidFill>
          <a:ln xmlns:a="http://schemas.openxmlformats.org/drawingml/2006/main" w="5715">
            <a:solidFill>
              <a:srgbClr val="D1D5C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C05B032-5FEB-4084-B7A0-6344C11D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53000"/>
            <a:ext cx="299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</a:rPr>
              <a:t>Density vs GDP per capita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214670B-786F-45D5-85B7-88FF1879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76800"/>
            <a:ext cx="533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8E0"/>
          </a:solidFill>
          <a:ln xmlns:a="http://schemas.openxmlformats.org/drawingml/2006/main" w="5715">
            <a:solidFill>
              <a:srgbClr val="D1D5C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BCC9DFC-C2CC-4EA6-9B4D-4B11AC86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953000"/>
            <a:ext cx="518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</a:rPr>
              <a:t>Membandingkan kepadatan dan kesejahteraan ekonomi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66E3D2A-0D91-4A31-9813-156DD875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8768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8E0"/>
          </a:solidFill>
          <a:ln xmlns:a="http://schemas.openxmlformats.org/drawingml/2006/main" w="5715">
            <a:solidFill>
              <a:srgbClr val="D1D5C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EF07142-8A4D-44FF-839C-84DC49C0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953000"/>
            <a:ext cx="1752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</a:rPr>
              <a:t>Gelar</a:t>
            </a:r>
          </a:p>
        </p:txBody>
      </p:sp>
    </p:spTree>
    <p:extLst>
      <p:ext uri="{BB962C8B-B14F-4D97-AF65-F5344CB8AC3E}">
        <p14:creationId xmlns:p14="http://schemas.microsoft.com/office/powerpoint/2010/main" val="2837140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7A4811-9AD1-4055-9EEA-F54039A8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D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61D5E9-5369-41A1-9DE7-E5D45CC2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B7B6E"/>
                </a:solidFill>
              </a:defRPr>
            </a:pPr>
            <a:r>
              <a:rPr sz="900" b="1">
                <a:solidFill>
                  <a:srgbClr val="6B7B6E"/>
                </a:solidFill>
              </a:rPr>
              <a:t>HASIL &amp; DOKUMENTASI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ECFCAF-A1F6-4ED2-86CB-86E064AF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B4D3E"/>
                </a:solidFill>
              </a:defRPr>
            </a:pPr>
            <a:r>
              <a:rPr sz="2550" b="1">
                <a:solidFill>
                  <a:srgbClr val="1B4D3E"/>
                </a:solidFill>
              </a:rPr>
              <a:t>Bukti Keberhasilan ETL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EDD26B-D97A-4788-9C4C-E4387B1D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FE1890-6D34-4809-AA0A-CE164BD1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D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CDDF1F-87B7-45DC-AE49-356B95A2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6B7B6E"/>
                </a:solidFill>
              </a:defRPr>
            </a:pPr>
            <a:r>
              <a:rPr sz="900" b="0">
                <a:solidFill>
                  <a:srgbClr val="6B7B6E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ABCBFD-91BC-424D-B5A2-F38974F0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5875"/>
            <a:ext cx="11049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4CB4F6-7D79-4BAC-A07F-4068F2D1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1FAE5"/>
                </a:solidFill>
              </a:defRPr>
            </a:pPr>
            <a:r>
              <a:rPr sz="1200" b="0">
                <a:solidFill>
                  <a:srgbClr val="D1FAE5"/>
                </a:solidFill>
              </a:rPr>
              <a:t>$ python3 src/01_ingestion_wikidata.py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1FAE5"/>
                </a:solidFill>
              </a:defRPr>
            </a:pPr>
            <a:r>
              <a:rPr sz="1200" b="0">
                <a:solidFill>
                  <a:srgbClr val="D1FAE5"/>
                </a:solidFill>
              </a:rPr>
              <a:t>Successfully fetched 100 records from WikiData.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1FAE5"/>
                </a:solidFill>
              </a:defRPr>
            </a:pPr>
            <a:r>
              <a:rPr sz="1200" b="0">
                <a:solidFill>
                  <a:srgbClr val="D1FAE5"/>
                </a:solidFill>
              </a:rPr>
              <a:t>WikiData ingestion completed successfully.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1FAE5"/>
                </a:solidFill>
              </a:defRPr>
            </a:pPr>
            <a:r>
              <a:rPr sz="1200" b="0">
                <a:solidFill>
                  <a:srgbClr val="D1FAE5"/>
                </a:solidFill>
              </a:rPr>
              <a:t>$ python3 src/02_ingestion_bps.py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1FAE5"/>
                </a:solidFill>
              </a:defRPr>
            </a:pPr>
            <a:r>
              <a:rPr sz="1200" b="0">
                <a:solidFill>
                  <a:srgbClr val="D1FAE5"/>
                </a:solidFill>
              </a:rPr>
              <a:t>Fetched 174 PDRB records.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1FAE5"/>
                </a:solidFill>
              </a:defRPr>
            </a:pPr>
            <a:r>
              <a:rPr sz="1200" b="0">
                <a:solidFill>
                  <a:srgbClr val="D1FAE5"/>
                </a:solidFill>
              </a:rPr>
              <a:t>PDRB successfully uploaded.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1FAE5"/>
                </a:solidFill>
              </a:defRPr>
            </a:pPr>
            <a:r>
              <a:rPr sz="1200" b="0">
                <a:solidFill>
                  <a:srgbClr val="D1FAE5"/>
                </a:solidFill>
              </a:rPr>
              <a:t>Fetched 170 Population records.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1FAE5"/>
                </a:solidFill>
              </a:defRPr>
            </a:pPr>
            <a:r>
              <a:rPr sz="1200" b="0">
                <a:solidFill>
                  <a:srgbClr val="D1FAE5"/>
                </a:solidFill>
              </a:rPr>
              <a:t>Population successfully uploaded.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1FAE5"/>
                </a:solidFill>
              </a:defRPr>
            </a:pPr>
            <a:r>
              <a:rPr sz="1200" b="0">
                <a:solidFill>
                  <a:srgbClr val="D1FAE5"/>
                </a:solidFill>
              </a:rPr>
              <a:t>$ python3 src/03_silver_transform.py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1FAE5"/>
                </a:solidFill>
              </a:defRPr>
            </a:pPr>
            <a:r>
              <a:rPr sz="1200" b="0">
                <a:solidFill>
                  <a:srgbClr val="D1FAE5"/>
                </a:solidFill>
              </a:rPr>
              <a:t>Saved wikidata_provinces with 42 records.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1FAE5"/>
                </a:solidFill>
              </a:defRPr>
            </a:pPr>
            <a:r>
              <a:rPr sz="1200" b="0">
                <a:solidFill>
                  <a:srgbClr val="D1FAE5"/>
                </a:solidFill>
              </a:rPr>
              <a:t>Saved bps_pdrb with 174 records.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1FAE5"/>
                </a:solidFill>
              </a:defRPr>
            </a:pPr>
            <a:r>
              <a:rPr sz="1200" b="0">
                <a:solidFill>
                  <a:srgbClr val="D1FAE5"/>
                </a:solidFill>
              </a:rPr>
              <a:t>Saved bps_populasi with 170 records.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1FAE5"/>
                </a:solidFill>
              </a:defRPr>
            </a:pPr>
            <a:r>
              <a:rPr sz="1200" b="0">
                <a:solidFill>
                  <a:srgbClr val="D1FAE5"/>
                </a:solidFill>
              </a:rPr>
              <a:t>$ python3 src/04_gold_transform.py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1FAE5"/>
                </a:solidFill>
              </a:defRPr>
            </a:pPr>
            <a:r>
              <a:rPr sz="1200" b="0">
                <a:solidFill>
                  <a:srgbClr val="D1FAE5"/>
                </a:solidFill>
              </a:rPr>
              <a:t>dim_province: 38 rows | dim_year: 5 rows | fact_economics: 174 rows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1FAE5"/>
                </a:solidFill>
              </a:defRPr>
            </a:pPr>
            <a:r>
              <a:rPr sz="1200" b="0">
                <a:solidFill>
                  <a:srgbClr val="D1FAE5"/>
                </a:solidFill>
              </a:rPr>
              <a:t>All provinces matched successfully.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FAD81C-E592-4B0C-AE61-C1F03B19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6B7B6E"/>
                </a:solidFill>
              </a:defRPr>
            </a:pPr>
            <a:r>
              <a:rPr sz="1050" b="0">
                <a:solidFill>
                  <a:srgbClr val="6B7B6E"/>
                </a:solidFill>
              </a:rPr>
              <a:t>Terminal evidence diringkas dari run pipeline terbaru.</a:t>
            </a:r>
          </a:p>
        </p:txBody>
      </p:sp>
    </p:spTree>
    <p:extLst>
      <p:ext uri="{BB962C8B-B14F-4D97-AF65-F5344CB8AC3E}">
        <p14:creationId xmlns:p14="http://schemas.microsoft.com/office/powerpoint/2010/main" val="16534744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CD0C87-820E-426E-9969-AB7D0472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D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E850D5-FA50-44DC-82E5-07E6DE8C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B7B6E"/>
                </a:solidFill>
              </a:defRPr>
            </a:pPr>
            <a:r>
              <a:rPr sz="900" b="1">
                <a:solidFill>
                  <a:srgbClr val="6B7B6E"/>
                </a:solidFill>
              </a:rPr>
              <a:t>HASIL &amp; DOKUMENTASI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9D4C9D-CEDA-4BEC-9066-5C1C6A8D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B4D3E"/>
                </a:solidFill>
              </a:defRPr>
            </a:pPr>
            <a:r>
              <a:rPr sz="2550" b="1">
                <a:solidFill>
                  <a:srgbClr val="1B4D3E"/>
                </a:solidFill>
              </a:rPr>
              <a:t>Isi Bucket MinIO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4D0DD4-C6E9-4A31-8D15-4A8A1F1A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32037-B8F0-4588-A05C-E7AFE0D1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D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B0C525-F5C6-4B88-AFD5-E7C433C6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6B7B6E"/>
                </a:solidFill>
              </a:defRPr>
            </a:pPr>
            <a:r>
              <a:rPr sz="900" b="0">
                <a:solidFill>
                  <a:srgbClr val="6B7B6E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A9DBF0-91EF-4DBB-8F31-ED2E13BB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3333750" cy="34290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E8E8E0"/>
          </a:solidFill>
          <a:ln xmlns:a="http://schemas.openxmlformats.org/drawingml/2006/main" w="9525">
            <a:solidFill>
              <a:srgbClr val="D1D5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B4BFF6-EDEF-4165-81EE-8F0914EA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B87333"/>
                </a:solidFill>
              </a:defRPr>
            </a:pPr>
            <a:r>
              <a:rPr sz="1650" b="1">
                <a:solidFill>
                  <a:srgbClr val="B87333"/>
                </a:solidFill>
              </a:rPr>
              <a:t>bronze/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65CE00-5192-496C-BF12-54A3F3E0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29146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wikidata/provinces/latest.csv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bps/pdrb/latest.csv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bps/populasi/latest.csv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_manifest/*.json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_checksums/latest.md5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095A80-667E-4F01-AD7C-9E6AEAEC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333500"/>
            <a:ext cx="3333750" cy="34290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E8E8E0"/>
          </a:solidFill>
          <a:ln xmlns:a="http://schemas.openxmlformats.org/drawingml/2006/main" w="9525">
            <a:solidFill>
              <a:srgbClr val="D1D5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52C26A-F0A5-41A0-A5AF-9B945638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504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7C8791"/>
                </a:solidFill>
              </a:defRPr>
            </a:pPr>
            <a:r>
              <a:rPr sz="1650" b="1">
                <a:solidFill>
                  <a:srgbClr val="7C8791"/>
                </a:solidFill>
              </a:rPr>
              <a:t>silver/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10AB5C-954A-4D8C-9D95-6D8636D9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943100"/>
            <a:ext cx="29146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wikidata_provinces/data.parquet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bps_pdrb/data.parquet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bps_populasi/data.parquet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_delta_log/version_*.json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_backup/*.parquet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C51C26-1F22-4D0C-BB3F-65B89D15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333500"/>
            <a:ext cx="3333750" cy="34290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E8E8E0"/>
          </a:solidFill>
          <a:ln xmlns:a="http://schemas.openxmlformats.org/drawingml/2006/main" w="9525">
            <a:solidFill>
              <a:srgbClr val="D1D5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E4788C-B590-4CC0-AD60-0BDB5CAC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504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C49A3B"/>
                </a:solidFill>
              </a:defRPr>
            </a:pPr>
            <a:r>
              <a:rPr sz="1650" b="1">
                <a:solidFill>
                  <a:srgbClr val="C49A3B"/>
                </a:solidFill>
              </a:rPr>
              <a:t>gold/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2C6A89-10E7-433B-8C92-53087B2B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43100"/>
            <a:ext cx="29146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dim_province.parquet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dim_year.parquet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dim_indicator.parquet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fact_economics.parquet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8849D9-FB30-4A2A-B50E-4A7D2809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B4D3E"/>
                </a:solidFill>
              </a:defRPr>
            </a:pPr>
            <a:r>
              <a:rPr sz="1350" b="1">
                <a:solidFill>
                  <a:srgbClr val="1B4D3E"/>
                </a:solidFill>
              </a:rPr>
              <a:t>MinIO Console: http://localhost:9001 — bucket default: datalakehouse</a:t>
            </a:r>
          </a:p>
        </p:txBody>
      </p:sp>
    </p:spTree>
    <p:extLst>
      <p:ext uri="{BB962C8B-B14F-4D97-AF65-F5344CB8AC3E}">
        <p14:creationId xmlns:p14="http://schemas.microsoft.com/office/powerpoint/2010/main" val="18067433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328D66-70AF-4EB8-8A62-55FCC886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D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53BDD-4CD7-4166-B93D-AC7A4D6C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B7B6E"/>
                </a:solidFill>
              </a:defRPr>
            </a:pPr>
            <a:r>
              <a:rPr sz="900" b="1">
                <a:solidFill>
                  <a:srgbClr val="6B7B6E"/>
                </a:solidFill>
              </a:rPr>
              <a:t>HASIL &amp; DOKUMENTASI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572DD3-A5B7-4F59-9F14-0137C7E5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B4D3E"/>
                </a:solidFill>
              </a:defRPr>
            </a:pPr>
            <a:r>
              <a:rPr sz="2550" b="1">
                <a:solidFill>
                  <a:srgbClr val="1B4D3E"/>
                </a:solidFill>
              </a:rPr>
              <a:t>Ringkasan Hasil 6 Query Analitik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BEFD77-104E-4CA6-A213-13AEED38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E0A5FF-23D2-40F4-AA1E-3DE47141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D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1A91FA-0FD3-4573-BBAA-0671AFCA7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6B7B6E"/>
                </a:solidFill>
              </a:defRPr>
            </a:pPr>
            <a:r>
              <a:rPr sz="900" b="0">
                <a:solidFill>
                  <a:srgbClr val="6B7B6E"/>
                </a:solidFill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D3ED0B-8A38-43A7-9FA4-EF4A6890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5875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A93CF2-48F4-45B2-BD9C-183B0017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B4D3E"/>
                </a:solidFill>
              </a:defRPr>
            </a:pPr>
            <a:r>
              <a:rPr sz="2250" b="1">
                <a:solidFill>
                  <a:srgbClr val="1B4D3E"/>
                </a:solidFill>
              </a:rPr>
              <a:t>Jakarta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4DFFA0-1148-422D-9CB5-99EFB22B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19275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A1A1A"/>
                </a:solidFill>
              </a:defRPr>
            </a:pPr>
            <a:r>
              <a:rPr sz="1050" b="1">
                <a:solidFill>
                  <a:srgbClr val="1A1A1A"/>
                </a:solidFill>
              </a:rPr>
              <a:t>GDP per kapita tertinggi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CF5300-8CF4-4CFC-AC90-9D9EBEFC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0275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6B7B6E"/>
                </a:solidFill>
              </a:defRPr>
            </a:pPr>
            <a:r>
              <a:rPr sz="900" b="0">
                <a:solidFill>
                  <a:srgbClr val="6B7B6E"/>
                </a:solidFill>
              </a:rPr>
              <a:t>322,65 juta rupiah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6A0D93-F084-4530-B0C5-23DD1C9B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285875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D4EEEE-6359-43D9-8D65-A498B25F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4382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B4D3E"/>
                </a:solidFill>
              </a:defRPr>
            </a:pPr>
            <a:r>
              <a:rPr sz="2250" b="1">
                <a:solidFill>
                  <a:srgbClr val="1B4D3E"/>
                </a:solidFill>
              </a:rPr>
              <a:t>Jawa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44C32A-8A04-4B34-92CE-0AC6CF10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19275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A1A1A"/>
                </a:solidFill>
              </a:defRPr>
            </a:pPr>
            <a:r>
              <a:rPr sz="1050" b="1">
                <a:solidFill>
                  <a:srgbClr val="1A1A1A"/>
                </a:solidFill>
              </a:rPr>
              <a:t>Kelompok ekonomi terbesar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E1D62E-6E44-4645-950D-81FDF83A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00275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6B7B6E"/>
                </a:solidFill>
              </a:defRPr>
            </a:pPr>
            <a:r>
              <a:rPr sz="900" b="0">
                <a:solidFill>
                  <a:srgbClr val="6B7B6E"/>
                </a:solidFill>
              </a:rPr>
              <a:t>avg PDRB 1.952T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6D806D-CCAF-4979-993B-D09C0EE4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285875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313C72-5A43-43FE-80E8-6C62CE08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4382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B4D3E"/>
                </a:solidFill>
              </a:defRPr>
            </a:pPr>
            <a:r>
              <a:rPr sz="2250" b="1">
                <a:solidFill>
                  <a:srgbClr val="1B4D3E"/>
                </a:solidFill>
              </a:rPr>
              <a:t>Negatif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AD589C-5E70-4A89-9C24-9A105EC8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819275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A1A1A"/>
                </a:solidFill>
              </a:defRPr>
            </a:pPr>
            <a:r>
              <a:rPr sz="1050" b="1">
                <a:solidFill>
                  <a:srgbClr val="1A1A1A"/>
                </a:solidFill>
              </a:rPr>
              <a:t>Growth 2020 Jawa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F05B9D-F147-44E3-82B8-35FE2799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00275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6B7B6E"/>
                </a:solidFill>
              </a:defRPr>
            </a:pPr>
            <a:r>
              <a:rPr sz="900" b="0">
                <a:solidFill>
                  <a:srgbClr val="6B7B6E"/>
                </a:solidFill>
              </a:rPr>
              <a:t>dampak pandemi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F5E5AE-7C77-46E5-B87A-A265B7D9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85875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107B15-C460-40BD-B179-552EC940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382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B4D3E"/>
                </a:solidFill>
              </a:defRPr>
            </a:pPr>
            <a:r>
              <a:rPr sz="2250" b="1">
                <a:solidFill>
                  <a:srgbClr val="1B4D3E"/>
                </a:solidFill>
              </a:rPr>
              <a:t>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2723BC-FD30-4076-A2C6-1AD13397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19275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A1A1A"/>
                </a:solidFill>
              </a:defRPr>
            </a:pPr>
            <a:r>
              <a:rPr sz="1050" b="1">
                <a:solidFill>
                  <a:srgbClr val="1A1A1A"/>
                </a:solidFill>
              </a:rPr>
              <a:t>Provinsi di atas rata-rata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27A32E-3D62-401B-A6A7-B76969F8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00275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6B7B6E"/>
                </a:solidFill>
              </a:defRPr>
            </a:pPr>
            <a:r>
              <a:rPr sz="900" b="0">
                <a:solidFill>
                  <a:srgbClr val="6B7B6E"/>
                </a:solidFill>
              </a:rPr>
              <a:t>tahun terbaru</a:t>
            </a:r>
          </a:p>
        </p:txBody>
      </p:sp>
      <p:graphicFrame>
        <p:nvGraphicFramePr>
          <p:cNvPr id="48" name="Chart"/>
          <p:cNvGraphicFramePr/>
          <p:nvPr/>
        </p:nvGraphicFramePr>
        <p:xfrm>
          <a:off xmlns:a="http://schemas.openxmlformats.org/drawingml/2006/main" x="762000" y="2857500"/>
          <a:ext xmlns:a="http://schemas.openxmlformats.org/drawingml/2006/main" cx="4953000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1f16d4fa2be479e"/>
          </a:graphicData>
        </a:graphic>
      </p:graphicFrame>
      <p:graphicFrame>
        <p:nvGraphicFramePr>
          <p:cNvPr id="49" name="Chart"/>
          <p:cNvGraphicFramePr/>
          <p:nvPr/>
        </p:nvGraphicFramePr>
        <p:xfrm>
          <a:off xmlns:a="http://schemas.openxmlformats.org/drawingml/2006/main" x="6477000" y="2857500"/>
          <a:ext xmlns:a="http://schemas.openxmlformats.org/drawingml/2006/main" cx="4762500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73a94a8309a4e91"/>
          </a:graphicData>
        </a:graphic>
      </p:graphicFrame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4E5257-B2F2-496A-B52D-B8AB82B1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6B7B6E"/>
                </a:solidFill>
              </a:defRPr>
            </a:pPr>
            <a:r>
              <a:rPr sz="1050" b="0">
                <a:solidFill>
                  <a:srgbClr val="6B7B6E"/>
                </a:solidFill>
              </a:rPr>
              <a:t>Visual ringkas dari hasil `python3 src/05_analytics.py`.</a:t>
            </a:r>
          </a:p>
        </p:txBody>
      </p:sp>
    </p:spTree>
    <p:extLst>
      <p:ext uri="{BB962C8B-B14F-4D97-AF65-F5344CB8AC3E}">
        <p14:creationId xmlns:p14="http://schemas.microsoft.com/office/powerpoint/2010/main" val="17383344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B63E6D-73B5-4DDE-A460-E63D7A6C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D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AD49F0-0826-48C8-96FF-BC218B8D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B7B6E"/>
                </a:solidFill>
              </a:defRPr>
            </a:pPr>
            <a:r>
              <a:rPr sz="900" b="1">
                <a:solidFill>
                  <a:srgbClr val="6B7B6E"/>
                </a:solidFill>
              </a:rPr>
              <a:t>PEMBAGIAN TUGAS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82E465-3B37-45B7-951A-C6D7A3C4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B4D3E"/>
                </a:solidFill>
              </a:defRPr>
            </a:pPr>
            <a:r>
              <a:rPr sz="2550" b="1">
                <a:solidFill>
                  <a:srgbClr val="1B4D3E"/>
                </a:solidFill>
              </a:rPr>
              <a:t>Kontribusi Anggota dan Alur Video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A6BE3D-5DD8-4016-A9BE-623D338E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31AC59-BB78-4694-8E7D-F6FE840F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D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3C346D-DD53-4038-B02A-1036E1AB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6B7B6E"/>
                </a:solidFill>
              </a:defRPr>
            </a:pPr>
            <a:r>
              <a:rPr sz="900" b="0">
                <a:solidFill>
                  <a:srgbClr val="6B7B6E"/>
                </a:solidFill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B6F589-8EED-4DF3-A017-43BE56F5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5875"/>
            <a:ext cx="4953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8E8E0"/>
          </a:solidFill>
          <a:ln xmlns:a="http://schemas.openxmlformats.org/drawingml/2006/main" w="9525">
            <a:solidFill>
              <a:srgbClr val="D1D5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E982AB-0F4A-467B-B2CD-D56CA31F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5732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B4D3E"/>
                </a:solidFill>
              </a:defRPr>
            </a:pPr>
            <a:r>
              <a:rPr sz="1650" b="1">
                <a:solidFill>
                  <a:srgbClr val="1B4D3E"/>
                </a:solidFill>
              </a:rPr>
              <a:t>Fahyi Nashaqi — 5026241171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5DD221-2E1F-447B-B0CC-3D24827E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95475"/>
            <a:ext cx="45339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• Ingestion Wikidata dan BPS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• Perbaikan parser API BPS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• Idempotency checksum &amp; metadata Bronze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• Query 1–3 dan demo ingestion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69776B-574F-49CF-B642-3C725327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285875"/>
            <a:ext cx="4953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8E8E0"/>
          </a:solidFill>
          <a:ln xmlns:a="http://schemas.openxmlformats.org/drawingml/2006/main" w="9525">
            <a:solidFill>
              <a:srgbClr val="D1D5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E972B7-A5E9-4AAA-A66C-60487E1D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45732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C49A3B"/>
                </a:solidFill>
              </a:defRPr>
            </a:pPr>
            <a:r>
              <a:rPr sz="1650" b="1">
                <a:solidFill>
                  <a:srgbClr val="C49A3B"/>
                </a:solidFill>
              </a:rPr>
              <a:t>Gelar Ridho Ramadhan — 5026241045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7A6AF3-0B68-4DEE-A1AC-FEE75EF8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895475"/>
            <a:ext cx="45339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• Silver transform dan Gold star schema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• Mapping provinsi dan quality checks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• Query 4–6, analytics, dokumentasi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A1A1A"/>
                </a:solidFill>
              </a:defRPr>
            </a:pPr>
            <a:r>
              <a:rPr sz="1275" b="0">
                <a:solidFill>
                  <a:srgbClr val="1A1A1A"/>
                </a:solidFill>
              </a:rPr>
              <a:t>• PPT final dan video demo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A089B5-4F6D-448F-9045-C41704BF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110490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51AE4B-7152-47F7-A9BF-361C1A2E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D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C9E2B0-2E81-4F7D-8C97-0A20C5B3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Menit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C9A659-F94E-487F-951D-A128D667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95750"/>
            <a:ext cx="685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D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C6546E-5C6A-416A-9902-07A7B14B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171950"/>
            <a:ext cx="670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Konten video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2BCF7F-892E-453E-B3B1-9E5B3D19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9575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D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3D9451-ACF6-40C0-82A7-8BA71EAA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171950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Pembicara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67612C-DE8A-46E5-B338-96C73631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1485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1D5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A31573-82F8-4EA7-9C2A-8A1CDAA3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</a:rPr>
              <a:t>0–2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6B07DF-CE05-4EEB-8643-69140C86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14850"/>
            <a:ext cx="685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1D5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F90E48-6FC3-405A-A17C-F98F3297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591050"/>
            <a:ext cx="670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</a:rPr>
              <a:t>Opening, latar belakang, tujuan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3419EC-8B32-4FB5-B882-97A4FB10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1485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1D5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734F84-F32D-41B2-AF4D-7A83CF1F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91050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</a:rPr>
              <a:t>Fahyi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F59B23-E9FE-4CBF-B0F0-5A8BA944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3395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8E0"/>
          </a:solidFill>
          <a:ln xmlns:a="http://schemas.openxmlformats.org/drawingml/2006/main" w="5715">
            <a:solidFill>
              <a:srgbClr val="D1D5C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ED5A5D-569E-4BDE-9F8E-DF43B291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015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</a:rPr>
              <a:t>2–5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C69652-371C-4A1E-9EB4-C02F08B5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33950"/>
            <a:ext cx="685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8E0"/>
          </a:solidFill>
          <a:ln xmlns:a="http://schemas.openxmlformats.org/drawingml/2006/main" w="5715">
            <a:solidFill>
              <a:srgbClr val="D1D5C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8C4553-E56E-4FAE-B2CD-D44339A5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010150"/>
            <a:ext cx="670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</a:rPr>
              <a:t>Sumber data dan arsitektur lakehouse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1F846F-8D7E-48BD-BA7F-DF370D15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3395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8E0"/>
          </a:solidFill>
          <a:ln xmlns:a="http://schemas.openxmlformats.org/drawingml/2006/main" w="5715">
            <a:solidFill>
              <a:srgbClr val="D1D5C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4B0D37-3046-4412-95F7-AC2D7B26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010150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</a:rPr>
              <a:t>Fahyi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8586B9-6434-4806-A695-89DF753E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5305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1D5C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64E232-8774-44F0-BE8F-6253937B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</a:rPr>
              <a:t>5–8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1E7D5F-731F-4A19-B46C-2983D9E0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53050"/>
            <a:ext cx="685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1D5C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D7163E-974B-4F49-9F3D-149A6BC0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429250"/>
            <a:ext cx="670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</a:rPr>
              <a:t>Demo pipeline Python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DB0A2C-C49D-4FEE-B97A-5083A554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35305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1D5C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81BA22-21CE-4985-8E22-A9CD6CD9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429250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</a:rPr>
              <a:t>Fahyi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D48E26-736F-48D2-B421-AE34DF0C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7215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8E0"/>
          </a:solidFill>
          <a:ln xmlns:a="http://schemas.openxmlformats.org/drawingml/2006/main" w="5715">
            <a:solidFill>
              <a:srgbClr val="D1D5C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486473-75A1-46F6-A5B9-AA0C19A2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4835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</a:rPr>
              <a:t>8–12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1A6BD2-EBC8-4D17-B1AA-5F183A01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772150"/>
            <a:ext cx="685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8E0"/>
          </a:solidFill>
          <a:ln xmlns:a="http://schemas.openxmlformats.org/drawingml/2006/main" w="5715">
            <a:solidFill>
              <a:srgbClr val="D1D5C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3D80DD-DF4E-4CA8-888A-F08448EC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848350"/>
            <a:ext cx="670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</a:rPr>
              <a:t>Demo 6 query analytics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B949C9D-9145-40BC-ADED-A0064D52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77215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8E0"/>
          </a:solidFill>
          <a:ln xmlns:a="http://schemas.openxmlformats.org/drawingml/2006/main" w="5715">
            <a:solidFill>
              <a:srgbClr val="D1D5C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EC6A5F6-7633-43C0-B14F-BC1160FC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848350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</a:rPr>
              <a:t>Gelar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7B23BDF-B8CB-4505-AD96-9C55BD30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1D5C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DD10B35-3C84-44A3-BD16-2CBECDD3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6745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</a:rPr>
              <a:t>12–14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428C680-8795-4EEF-8510-F8BA6ED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191250"/>
            <a:ext cx="685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1D5C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6D6F3CB-B7EA-4816-B343-AA52777C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267450"/>
            <a:ext cx="670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</a:rPr>
              <a:t>Bonus, pembagian tugas, closing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68235A5-92A4-4C66-972E-599F043D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19125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1D5C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0A4267E-5B51-4A3A-9056-1E5C848B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267450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</a:rPr>
              <a:t>Gelar</a:t>
            </a:r>
          </a:p>
        </p:txBody>
      </p:sp>
    </p:spTree>
    <p:extLst>
      <p:ext uri="{BB962C8B-B14F-4D97-AF65-F5344CB8AC3E}">
        <p14:creationId xmlns:p14="http://schemas.microsoft.com/office/powerpoint/2010/main" val="21451517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2026-06-24T01:35:42.4080000Z</dcterms:created>
  <dcterms:modified xsi:type="dcterms:W3CDTF">2026-06-24T01:35:42.4080000Z</dcterms:modified>
</coreProperties>
</file>