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query.wikidata.org/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s://www.bps.go.id/" TargetMode="Externa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accent-line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itle-main|s=$title"/>
          <p:cNvSpPr txBox="1"/>
          <p:nvPr/>
        </p:nvSpPr>
        <p:spPr>
          <a:xfrm>
            <a:off x="1333500" y="1714500"/>
            <a:ext cx="9525000" cy="1143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3000" noProof="1">
                <a:solidFill>
                  <a:srgbClr val="1B4D3E"/>
                </a:solidFill>
                <a:latin typeface="QuattrocentoSans"/>
                <a:ea typeface="MiSans"/>
              </a:rPr>
              <a:t>Data Lakehouse Platform</a:t>
            </a:r>
          </a:p>
        </p:txBody>
      </p:sp>
      <p:sp>
        <p:nvSpPr>
          <p:cNvPr id="4" name="dsl:subtitle-line"/>
          <p:cNvSpPr/>
          <p:nvPr/>
        </p:nvSpPr>
        <p:spPr>
          <a:xfrm>
            <a:off x="5143500" y="3048000"/>
            <a:ext cx="1905000" cy="1905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ubtitle-text|s=$subtitle"/>
          <p:cNvSpPr txBox="1"/>
          <p:nvPr/>
        </p:nvSpPr>
        <p:spPr>
          <a:xfrm>
            <a:off x="1809750" y="323850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650" noProof="1">
                <a:solidFill>
                  <a:srgbClr val="6B7B6E"/>
                </a:solidFill>
                <a:latin typeface="QuattrocentoSans"/>
                <a:ea typeface="MiSans"/>
              </a:rPr>
              <a:t>Indonesia Demographics &amp; Economy Analysis</a:t>
            </a:r>
          </a:p>
        </p:txBody>
      </p:sp>
      <p:sp>
        <p:nvSpPr>
          <p:cNvPr id="6" name="dsl:tagline|s=$caption"/>
          <p:cNvSpPr txBox="1"/>
          <p:nvPr/>
        </p:nvSpPr>
        <p:spPr>
          <a:xfrm>
            <a:off x="3238500" y="381000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6B7B6E"/>
                </a:solidFill>
                <a:latin typeface="QuattrocentoSans"/>
                <a:ea typeface="MiSans"/>
              </a:rPr>
              <a:t>Proyek Akhir Data Engineering</a:t>
            </a:r>
          </a:p>
        </p:txBody>
      </p:sp>
      <p:pic>
        <p:nvPicPr>
          <p:cNvPr id="7" name="dsl:icon-data|i=fas:database" descr="tmpu_s27ng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4381500"/>
            <a:ext cx="685800" cy="685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bottom-accent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B4D3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accent-line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label|s=$caption"/>
          <p:cNvSpPr txBox="1"/>
          <p:nvPr/>
        </p:nvSpPr>
        <p:spPr>
          <a:xfrm>
            <a:off x="571500" y="15240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6B7B6E"/>
                </a:solidFill>
                <a:latin typeface="QuattrocentoSans"/>
                <a:ea typeface="MiSans"/>
              </a:rPr>
              <a:t>RENCANA ANALISIS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476250"/>
            <a:ext cx="571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1B4D3E"/>
                </a:solidFill>
                <a:latin typeface="QuattrocentoSans"/>
                <a:ea typeface="MiSans"/>
              </a:rPr>
              <a:t>Rencana Analisis</a:t>
            </a:r>
          </a:p>
        </p:txBody>
      </p:sp>
      <p:sp>
        <p:nvSpPr>
          <p:cNvPr id="5" name="dsl:title-underline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card1-bg"/>
          <p:cNvSpPr/>
          <p:nvPr/>
        </p:nvSpPr>
        <p:spPr>
          <a:xfrm>
            <a:off x="571500" y="1143000"/>
            <a:ext cx="3429000" cy="3238500"/>
          </a:xfrm>
          <a:prstGeom prst="rect">
            <a:avLst/>
          </a:prstGeom>
          <a:solidFill>
            <a:srgbClr val="E8E8E0"/>
          </a:solidFill>
          <a:ln w="12700">
            <a:solidFill>
              <a:srgbClr val="6B7B6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card1-icon|i=fas:landmark" descr="tmpm7ss7e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335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card1-title|s=$subtitle"/>
          <p:cNvSpPr txBox="1"/>
          <p:nvPr/>
        </p:nvSpPr>
        <p:spPr>
          <a:xfrm>
            <a:off x="1200150" y="1333500"/>
            <a:ext cx="26098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500" noProof="1">
                <a:solidFill>
                  <a:srgbClr val="1B4D3E"/>
                </a:solidFill>
                <a:latin typeface="QuattrocentoSans"/>
                <a:ea typeface="MiSans"/>
              </a:rPr>
              <a:t>Latar Belakang</a:t>
            </a:r>
          </a:p>
        </p:txBody>
      </p:sp>
      <p:sp>
        <p:nvSpPr>
          <p:cNvPr id="9" name="dsl:card1-text|s=$body"/>
          <p:cNvSpPr txBox="1"/>
          <p:nvPr/>
        </p:nvSpPr>
        <p:spPr>
          <a:xfrm>
            <a:off x="762000" y="1809750"/>
            <a:ext cx="304800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Indonesia memiliki </a:t>
            </a:r>
            <a:r>
              <a:rPr b="1" sz="1200" noProof="1">
                <a:solidFill>
                  <a:srgbClr val="1A1A1A"/>
                </a:solidFill>
                <a:latin typeface="QuattrocentoSans"/>
                <a:ea typeface="MiSans"/>
              </a:rPr>
              <a:t>38 provinsi</a:t>
            </a: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 dengan data demografi dan ekonomi yang tersebar di berbagai sumber.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Diperlukan platform terpusat untuk analisis regional yang komprehensif dan terintegrasi.</a:t>
            </a:r>
          </a:p>
        </p:txBody>
      </p:sp>
      <p:sp>
        <p:nvSpPr>
          <p:cNvPr id="10" name="dsl:card2-bg"/>
          <p:cNvSpPr/>
          <p:nvPr/>
        </p:nvSpPr>
        <p:spPr>
          <a:xfrm>
            <a:off x="4191000" y="1143000"/>
            <a:ext cx="3429000" cy="3238500"/>
          </a:xfrm>
          <a:prstGeom prst="rect">
            <a:avLst/>
          </a:prstGeom>
          <a:solidFill>
            <a:srgbClr val="E8E8E0"/>
          </a:solidFill>
          <a:ln w="12700">
            <a:solidFill>
              <a:srgbClr val="6B7B6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card2-icon|i=fas:triangle-exclamation" descr="tmpmon287t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3335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card2-title|s=$subtitle"/>
          <p:cNvSpPr txBox="1"/>
          <p:nvPr/>
        </p:nvSpPr>
        <p:spPr>
          <a:xfrm>
            <a:off x="4819650" y="1333500"/>
            <a:ext cx="26098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500" noProof="1">
                <a:solidFill>
                  <a:srgbClr val="C49A3B"/>
                </a:solidFill>
                <a:latin typeface="QuattrocentoSans"/>
                <a:ea typeface="MiSans"/>
              </a:rPr>
              <a:t>Problem Statement</a:t>
            </a:r>
          </a:p>
        </p:txBody>
      </p:sp>
      <p:sp>
        <p:nvSpPr>
          <p:cNvPr id="13" name="dsl:card2-text|s=$body"/>
          <p:cNvSpPr txBox="1"/>
          <p:nvPr/>
        </p:nvSpPr>
        <p:spPr>
          <a:xfrm>
            <a:off x="4381500" y="1809750"/>
            <a:ext cx="304800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Data </a:t>
            </a:r>
            <a:r>
              <a:rPr b="1" sz="1200" noProof="1">
                <a:solidFill>
                  <a:srgbClr val="1A1A1A"/>
                </a:solidFill>
                <a:latin typeface="QuattrocentoSans"/>
                <a:ea typeface="MiSans"/>
              </a:rPr>
              <a:t>PDRB</a:t>
            </a: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 dan </a:t>
            </a:r>
            <a:r>
              <a:rPr b="1" sz="1200" noProof="1">
                <a:solidFill>
                  <a:srgbClr val="1A1A1A"/>
                </a:solidFill>
                <a:latin typeface="QuattrocentoSans"/>
                <a:ea typeface="MiSans"/>
              </a:rPr>
              <a:t>populasi</a:t>
            </a: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 per provinsi (2019-2023) tersepat di BPS dan WikiData, sulit diakses secara terintegrasi.</a:t>
            </a:r>
          </a:p>
          <a:p>
            <a:pPr algn="l">
              <a:lnSpc>
                <a:spcPct val="160000"/>
              </a:lnSpc>
              <a:spcBef>
                <a:spcPts val="750"/>
              </a:spcBef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Analisis perbandingan regional, tren temporal, dan ketimpangan distribusi memerlukan integrasi data.</a:t>
            </a:r>
          </a:p>
        </p:txBody>
      </p:sp>
      <p:sp>
        <p:nvSpPr>
          <p:cNvPr id="14" name="dsl:card3-bg"/>
          <p:cNvSpPr/>
          <p:nvPr/>
        </p:nvSpPr>
        <p:spPr>
          <a:xfrm>
            <a:off x="7810500" y="1143000"/>
            <a:ext cx="3810000" cy="3238500"/>
          </a:xfrm>
          <a:prstGeom prst="rect">
            <a:avLst/>
          </a:prstGeom>
          <a:solidFill>
            <a:srgbClr val="E8E8E0"/>
          </a:solidFill>
          <a:ln w="12700">
            <a:solidFill>
              <a:srgbClr val="6B7B6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card3-icon|i=fas:bullseye" descr="tmpm7ss7e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33500"/>
            <a:ext cx="342900" cy="3429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card3-title|s=$subtitle"/>
          <p:cNvSpPr txBox="1"/>
          <p:nvPr/>
        </p:nvSpPr>
        <p:spPr>
          <a:xfrm>
            <a:off x="8439150" y="1333500"/>
            <a:ext cx="299085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500" noProof="1">
                <a:solidFill>
                  <a:srgbClr val="1B4D3E"/>
                </a:solidFill>
                <a:latin typeface="QuattrocentoSans"/>
                <a:ea typeface="MiSans"/>
              </a:rPr>
              <a:t>Tujuan &amp; Solusi</a:t>
            </a:r>
          </a:p>
        </p:txBody>
      </p:sp>
      <p:sp>
        <p:nvSpPr>
          <p:cNvPr id="17" name="dsl:card3-text|s=$body"/>
          <p:cNvSpPr txBox="1"/>
          <p:nvPr/>
        </p:nvSpPr>
        <p:spPr>
          <a:xfrm>
            <a:off x="8001000" y="1809750"/>
            <a:ext cx="342900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Membangun platform </a:t>
            </a:r>
            <a:r>
              <a:rPr b="1" sz="1200" noProof="1">
                <a:solidFill>
                  <a:srgbClr val="1A1A1A"/>
                </a:solidFill>
                <a:latin typeface="QuattrocentoSans"/>
                <a:ea typeface="MiSans"/>
              </a:rPr>
              <a:t>Data Lakehouse</a:t>
            </a: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 skala Enterprise menggunakan:</a:t>
            </a:r>
          </a:p>
          <a:p>
            <a:pPr algn="l" lvl="0" indent="-182879" marL="228600">
              <a:lnSpc>
                <a:spcPct val="160000"/>
              </a:lnSpc>
              <a:buChar char="•"/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MinIO (Object Storage)</a:t>
            </a:r>
          </a:p>
          <a:p>
            <a:pPr algn="l" lvl="0" indent="-182879" marL="228600">
              <a:lnSpc>
                <a:spcPct val="160000"/>
              </a:lnSpc>
              <a:buChar char="•"/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DuckDB (Compute Engine)</a:t>
            </a:r>
          </a:p>
          <a:p>
            <a:pPr algn="l" lvl="0" indent="-182879" marL="228600">
              <a:lnSpc>
                <a:spcPct val="160000"/>
              </a:lnSpc>
              <a:buChar char="•"/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Arsitektur Medallion (Bronze-Silver-Gold)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Integrasi data dari WikiData dan BPS untuk analitik siap pakai.</a:t>
            </a:r>
          </a:p>
        </p:txBody>
      </p:sp>
      <p:sp>
        <p:nvSpPr>
          <p:cNvPr id="18" name="dsl:bottom-bar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B4D3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6B7B6E"/>
                </a:solidFill>
                <a:latin typeface="QuattrocentoSans"/>
                <a:ea typeface="Mi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accent-line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label|s=$caption"/>
          <p:cNvSpPr txBox="1"/>
          <p:nvPr/>
        </p:nvSpPr>
        <p:spPr>
          <a:xfrm>
            <a:off x="571500" y="15240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6B7B6E"/>
                </a:solidFill>
                <a:latin typeface="QuattrocentoSans"/>
                <a:ea typeface="MiSans"/>
              </a:rPr>
              <a:t>SUMBER DATA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476250"/>
            <a:ext cx="5715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1B4D3E"/>
                </a:solidFill>
                <a:latin typeface="QuattrocentoSans"/>
                <a:ea typeface="MiSans"/>
              </a:rPr>
              <a:t>Sumber Data</a:t>
            </a:r>
          </a:p>
        </p:txBody>
      </p:sp>
      <p:sp>
        <p:nvSpPr>
          <p:cNvPr id="5" name="dsl:title-underline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left-card-bg"/>
          <p:cNvSpPr/>
          <p:nvPr/>
        </p:nvSpPr>
        <p:spPr>
          <a:xfrm>
            <a:off x="571500" y="1143000"/>
            <a:ext cx="5334000" cy="3238500"/>
          </a:xfrm>
          <a:prstGeom prst="rect">
            <a:avLst/>
          </a:prstGeom>
          <a:solidFill>
            <a:srgbClr val="E8E8E0"/>
          </a:solidFill>
          <a:ln w="12700">
            <a:solidFill>
              <a:srgbClr val="6B7B6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left-icon|i=fab:wikipedia-w" descr="tmpt1a4ir1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3350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left-title|s=$subtitle"/>
          <p:cNvSpPr txBox="1"/>
          <p:nvPr/>
        </p:nvSpPr>
        <p:spPr>
          <a:xfrm>
            <a:off x="1257300" y="1333500"/>
            <a:ext cx="44577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500" noProof="1">
                <a:solidFill>
                  <a:srgbClr val="1B4D3E"/>
                </a:solidFill>
                <a:latin typeface="QuattrocentoSans"/>
                <a:ea typeface="MiSans"/>
              </a:rPr>
              <a:t>WikiData SPARQL API</a:t>
            </a:r>
          </a:p>
        </p:txBody>
      </p:sp>
      <p:sp>
        <p:nvSpPr>
          <p:cNvPr id="9" name="dsl:left-url|s=$caption"/>
          <p:cNvSpPr txBox="1"/>
          <p:nvPr/>
        </p:nvSpPr>
        <p:spPr>
          <a:xfrm>
            <a:off x="762000" y="1809750"/>
            <a:ext cx="495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49A3B"/>
                </a:solidFill>
                <a:latin typeface="QuattrocentoSans"/>
                <a:ea typeface="MiSans"/>
                <a:hlinkClick r:id="rId3"/>
              </a:rPr>
              <a:t>https://query.wikidata.org/</a:t>
            </a:r>
          </a:p>
        </p:txBody>
      </p:sp>
      <p:sp>
        <p:nvSpPr>
          <p:cNvPr id="10" name="dsl:left-content|s=$body"/>
          <p:cNvSpPr txBox="1"/>
          <p:nvPr/>
        </p:nvSpPr>
        <p:spPr>
          <a:xfrm>
            <a:off x="762000" y="2143125"/>
            <a:ext cx="4953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1A1A1A"/>
                </a:solidFill>
                <a:latin typeface="QuattrocentoSans"/>
                <a:ea typeface="MiSans"/>
              </a:rPr>
              <a:t>Data Referensi Provinsi:</a:t>
            </a:r>
          </a:p>
          <a:p>
            <a:pPr algn="l" lvl="0" indent="-182879" marL="228600">
              <a:lnSpc>
                <a:spcPct val="160000"/>
              </a:lnSpc>
              <a:buChar char="•"/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Nama Provinsi</a:t>
            </a:r>
          </a:p>
          <a:p>
            <a:pPr algn="l" lvl="0" indent="-182879" marL="228600">
              <a:lnSpc>
                <a:spcPct val="160000"/>
              </a:lnSpc>
              <a:buChar char="•"/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ISO Code</a:t>
            </a:r>
          </a:p>
          <a:p>
            <a:pPr algn="l" lvl="0" indent="-182879" marL="228600">
              <a:lnSpc>
                <a:spcPct val="160000"/>
              </a:lnSpc>
              <a:buChar char="•"/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Luas Wilayah (km²)</a:t>
            </a:r>
          </a:p>
          <a:p>
            <a:pPr algn="l" lvl="0" indent="-182879" marL="228600">
              <a:lnSpc>
                <a:spcPct val="160000"/>
              </a:lnSpc>
              <a:buChar char="•"/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Lokasi Ibu Kota</a:t>
            </a:r>
          </a:p>
          <a:p>
            <a:pPr algn="l" lvl="0" indent="-182879" marL="228600">
              <a:lnSpc>
                <a:spcPct val="160000"/>
              </a:lnSpc>
              <a:buChar char="•"/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Koordinat Geografis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200" noProof="1">
                <a:solidFill>
                  <a:srgbClr val="6B7B6E"/>
                </a:solidFill>
                <a:latin typeface="QuattrocentoSans"/>
                <a:ea typeface="MiSans"/>
              </a:rPr>
              <a:t>Format: SPARQL Endpoint / JSON</a:t>
            </a:r>
          </a:p>
        </p:txBody>
      </p:sp>
      <p:sp>
        <p:nvSpPr>
          <p:cNvPr id="11" name="dsl:right-card-bg"/>
          <p:cNvSpPr/>
          <p:nvPr/>
        </p:nvSpPr>
        <p:spPr>
          <a:xfrm>
            <a:off x="6286500" y="1143000"/>
            <a:ext cx="5334000" cy="3238500"/>
          </a:xfrm>
          <a:prstGeom prst="rect">
            <a:avLst/>
          </a:prstGeom>
          <a:solidFill>
            <a:srgbClr val="E8E8E0"/>
          </a:solidFill>
          <a:ln w="12700">
            <a:solidFill>
              <a:srgbClr val="6B7B6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dsl:right-icon|i=fas:chart-column" descr="tmpm9ulad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33350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dsl:right-title|s=$subtitle"/>
          <p:cNvSpPr txBox="1"/>
          <p:nvPr/>
        </p:nvSpPr>
        <p:spPr>
          <a:xfrm>
            <a:off x="6972300" y="1333500"/>
            <a:ext cx="44577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500" noProof="1">
                <a:solidFill>
                  <a:srgbClr val="C49A3B"/>
                </a:solidFill>
                <a:latin typeface="QuattrocentoSans"/>
                <a:ea typeface="MiSans"/>
              </a:rPr>
              <a:t>Badan Pusat Statistik (BPS)</a:t>
            </a:r>
          </a:p>
        </p:txBody>
      </p:sp>
      <p:sp>
        <p:nvSpPr>
          <p:cNvPr id="14" name="dsl:right-url|s=$caption"/>
          <p:cNvSpPr txBox="1"/>
          <p:nvPr/>
        </p:nvSpPr>
        <p:spPr>
          <a:xfrm>
            <a:off x="6477000" y="1809750"/>
            <a:ext cx="4953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noProof="1">
                <a:solidFill>
                  <a:srgbClr val="C49A3B"/>
                </a:solidFill>
                <a:latin typeface="QuattrocentoSans"/>
                <a:ea typeface="MiSans"/>
                <a:hlinkClick r:id="rId5"/>
              </a:rPr>
              <a:t>https://www.bps.go.id/</a:t>
            </a:r>
          </a:p>
        </p:txBody>
      </p:sp>
      <p:sp>
        <p:nvSpPr>
          <p:cNvPr id="15" name="dsl:right-content|s=$body"/>
          <p:cNvSpPr txBox="1"/>
          <p:nvPr/>
        </p:nvSpPr>
        <p:spPr>
          <a:xfrm>
            <a:off x="6477000" y="2143125"/>
            <a:ext cx="4953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1A1A1A"/>
                </a:solidFill>
                <a:latin typeface="QuattrocentoSans"/>
                <a:ea typeface="MiSans"/>
              </a:rPr>
              <a:t>Data Ekonomi &amp; Demografi:</a:t>
            </a:r>
          </a:p>
          <a:p>
            <a:pPr algn="l" lvl="0" indent="-182879" marL="228600">
              <a:lnSpc>
                <a:spcPct val="160000"/>
              </a:lnSpc>
              <a:buChar char="•"/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PDRB (Produk Domestik Regional Bruto)</a:t>
            </a:r>
          </a:p>
          <a:p>
            <a:pPr algn="l" lvl="0" indent="-182879" marL="228600">
              <a:lnSpc>
                <a:spcPct val="160000"/>
              </a:lnSpc>
              <a:buChar char="•"/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Harga Berlaku &amp; Harga Konstan</a:t>
            </a:r>
          </a:p>
          <a:p>
            <a:pPr algn="l" lvl="0" indent="-182879" marL="228600">
              <a:lnSpc>
                <a:spcPct val="160000"/>
              </a:lnSpc>
              <a:buChar char="•"/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Populasi Penduduk per Provinsi</a:t>
            </a:r>
          </a:p>
          <a:p>
            <a:pPr algn="l" lvl="0" indent="-182879" marL="228600">
              <a:lnSpc>
                <a:spcPct val="160000"/>
              </a:lnSpc>
              <a:buChar char="•"/>
            </a:pP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Periode: 2019 - 2023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200" noProof="1">
                <a:solidFill>
                  <a:srgbClr val="6B7B6E"/>
                </a:solidFill>
                <a:latin typeface="QuattrocentoSans"/>
                <a:ea typeface="MiSans"/>
              </a:rPr>
              <a:t>Format: CSV / REST API</a:t>
            </a:r>
          </a:p>
        </p:txBody>
      </p:sp>
      <p:sp>
        <p:nvSpPr>
          <p:cNvPr id="16" name="dsl:coverage-bar"/>
          <p:cNvSpPr/>
          <p:nvPr/>
        </p:nvSpPr>
        <p:spPr>
          <a:xfrm>
            <a:off x="571500" y="4572000"/>
            <a:ext cx="11049000" cy="381000"/>
          </a:xfrm>
          <a:prstGeom prst="rect">
            <a:avLst/>
          </a:prstGeom>
          <a:solidFill>
            <a:srgbClr val="1B4D3E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coverage-text|s=$body"/>
          <p:cNvSpPr txBox="1"/>
          <p:nvPr/>
        </p:nvSpPr>
        <p:spPr>
          <a:xfrm>
            <a:off x="571500" y="4572000"/>
            <a:ext cx="11049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b="1" sz="1200" noProof="1">
                <a:solidFill>
                  <a:srgbClr val="1B4D3E"/>
                </a:solidFill>
                <a:latin typeface="QuattrocentoSans"/>
                <a:ea typeface="MiSans"/>
              </a:rPr>
              <a:t>Cakupan Data:</a:t>
            </a:r>
            <a:r>
              <a:rPr sz="1200" noProof="1">
                <a:solidFill>
                  <a:srgbClr val="1B4D3E"/>
                </a:solidFill>
                <a:latin typeface="QuattrocentoSans"/>
                <a:ea typeface="MiSans"/>
              </a:rPr>
              <a:t> 38 Provinsi Indonesia | 5 Tahun Historis (2019-2023) | ~190 Baris Populasi + ~190 Baris PDRB</a:t>
            </a:r>
          </a:p>
        </p:txBody>
      </p:sp>
      <p:sp>
        <p:nvSpPr>
          <p:cNvPr id="18" name="dsl:bottom-bar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B4D3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6B7B6E"/>
                </a:solidFill>
                <a:latin typeface="QuattrocentoSans"/>
                <a:ea typeface="Mi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accent-line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page-label|s=$caption"/>
          <p:cNvSpPr txBox="1"/>
          <p:nvPr/>
        </p:nvSpPr>
        <p:spPr>
          <a:xfrm>
            <a:off x="571500" y="15240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6B7B6E"/>
                </a:solidFill>
                <a:latin typeface="QuattrocentoSans"/>
                <a:ea typeface="MiSans"/>
              </a:rPr>
              <a:t>ARSITEKTUR SOLUSI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47625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2100" noProof="1">
                <a:solidFill>
                  <a:srgbClr val="1B4D3E"/>
                </a:solidFill>
                <a:latin typeface="QuattrocentoSans"/>
                <a:ea typeface="MiSans"/>
              </a:rPr>
              <a:t>Arsitektur Medallion</a:t>
            </a:r>
          </a:p>
        </p:txBody>
      </p:sp>
      <p:sp>
        <p:nvSpPr>
          <p:cNvPr id="5" name="dsl:title-underline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bronze-box"/>
          <p:cNvSpPr/>
          <p:nvPr/>
        </p:nvSpPr>
        <p:spPr>
          <a:xfrm>
            <a:off x="571500" y="1238250"/>
            <a:ext cx="3238500" cy="1905000"/>
          </a:xfrm>
          <a:prstGeom prst="rect">
            <a:avLst/>
          </a:prstGeom>
          <a:solidFill>
            <a:srgbClr val="B87333">
              <a:alpha val="15000"/>
            </a:srgbClr>
          </a:solidFill>
          <a:ln w="25400">
            <a:solidFill>
              <a:srgbClr val="B87333"/>
            </a:solidFill>
            <a:prstDash val="solid"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bronze-icon|i=fas:database" descr="tmpb1fkklr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287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bronze-title"/>
          <p:cNvSpPr txBox="1"/>
          <p:nvPr/>
        </p:nvSpPr>
        <p:spPr>
          <a:xfrm>
            <a:off x="1162050" y="1428750"/>
            <a:ext cx="24574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B87333"/>
                </a:solidFill>
                <a:latin typeface="QuattrocentoSans"/>
                <a:ea typeface="MiSans"/>
              </a:rPr>
              <a:t>Bronze Layer</a:t>
            </a:r>
          </a:p>
        </p:txBody>
      </p:sp>
      <p:sp>
        <p:nvSpPr>
          <p:cNvPr id="9" name="dsl:bronze-text"/>
          <p:cNvSpPr txBox="1"/>
          <p:nvPr/>
        </p:nvSpPr>
        <p:spPr>
          <a:xfrm>
            <a:off x="762000" y="1857375"/>
            <a:ext cx="2857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A1A"/>
                </a:solidFill>
                <a:latin typeface="QuattrocentoSans"/>
                <a:ea typeface="MiSans"/>
              </a:rPr>
              <a:t>Data mentah (CSV) dari sumber asli:</a:t>
            </a:r>
          </a:p>
          <a:p>
            <a:pPr algn="l" lvl="0" indent="-171450" marL="214312">
              <a:lnSpc>
                <a:spcPct val="150000"/>
              </a:lnSpc>
              <a:buChar char="•"/>
            </a:pPr>
            <a:r>
              <a:rPr sz="1125" noProof="1">
                <a:solidFill>
                  <a:srgbClr val="1A1A1A"/>
                </a:solidFill>
                <a:latin typeface="QuattrocentoSans"/>
                <a:ea typeface="MiSans"/>
              </a:rPr>
              <a:t>WikiData SPARQL</a:t>
            </a:r>
          </a:p>
          <a:p>
            <a:pPr algn="l" lvl="0" indent="-171450" marL="214312">
              <a:lnSpc>
                <a:spcPct val="150000"/>
              </a:lnSpc>
              <a:buChar char="•"/>
            </a:pPr>
            <a:r>
              <a:rPr sz="1125" noProof="1">
                <a:solidFill>
                  <a:srgbClr val="1A1A1A"/>
                </a:solidFill>
                <a:latin typeface="QuattrocentoSans"/>
                <a:ea typeface="MiSans"/>
              </a:rPr>
              <a:t>BPS PDRB &amp; Populasi</a:t>
            </a:r>
          </a:p>
          <a:p>
            <a:pPr algn="l" lvl="0" indent="-171450" marL="214312">
              <a:lnSpc>
                <a:spcPct val="150000"/>
              </a:lnSpc>
              <a:buChar char="•"/>
            </a:pPr>
            <a:r>
              <a:rPr sz="1125" noProof="1">
                <a:solidFill>
                  <a:srgbClr val="1A1A1A"/>
                </a:solidFill>
                <a:latin typeface="QuattrocentoSans"/>
                <a:ea typeface="MiSans"/>
              </a:rPr>
              <a:t>Metadata audit</a:t>
            </a:r>
          </a:p>
        </p:txBody>
      </p:sp>
      <p:cxnSp>
        <p:nvCxnSpPr>
          <p:cNvPr id="10" name="dsl:arrow1"/>
          <p:cNvCxnSpPr/>
          <p:nvPr/>
        </p:nvCxnSpPr>
        <p:spPr>
          <a:xfrm>
            <a:off x="3810000" y="2095500"/>
            <a:ext cx="571500" cy="0"/>
          </a:xfrm>
          <a:prstGeom prst="straightConnector1">
            <a:avLst/>
          </a:prstGeom>
          <a:ln w="25400">
            <a:solidFill>
              <a:srgbClr val="6B7B6E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sl:silver-box"/>
          <p:cNvSpPr/>
          <p:nvPr/>
        </p:nvSpPr>
        <p:spPr>
          <a:xfrm>
            <a:off x="4381500" y="1238250"/>
            <a:ext cx="3238500" cy="1905000"/>
          </a:xfrm>
          <a:prstGeom prst="rect">
            <a:avLst/>
          </a:prstGeom>
          <a:solidFill>
            <a:srgbClr val="C0C0C0">
              <a:alpha val="20000"/>
            </a:srgbClr>
          </a:solidFill>
          <a:ln w="25400">
            <a:solidFill>
              <a:srgbClr val="808080"/>
            </a:solidFill>
            <a:prstDash val="solid"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dsl:silver-icon|i=fas:filter" descr="tmpnii87w8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287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dsl:silver-title"/>
          <p:cNvSpPr txBox="1"/>
          <p:nvPr/>
        </p:nvSpPr>
        <p:spPr>
          <a:xfrm>
            <a:off x="4972050" y="1428750"/>
            <a:ext cx="24574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808080"/>
                </a:solidFill>
                <a:latin typeface="QuattrocentoSans"/>
                <a:ea typeface="MiSans"/>
              </a:rPr>
              <a:t>Silver Layer</a:t>
            </a:r>
          </a:p>
        </p:txBody>
      </p:sp>
      <p:sp>
        <p:nvSpPr>
          <p:cNvPr id="14" name="dsl:silver-text"/>
          <p:cNvSpPr txBox="1"/>
          <p:nvPr/>
        </p:nvSpPr>
        <p:spPr>
          <a:xfrm>
            <a:off x="4572000" y="1857375"/>
            <a:ext cx="2857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A1A"/>
                </a:solidFill>
                <a:latin typeface="QuattrocentoSans"/>
                <a:ea typeface="MiSans"/>
              </a:rPr>
              <a:t>Data bersih &amp; terstandardisasi:</a:t>
            </a:r>
          </a:p>
          <a:p>
            <a:pPr algn="l" lvl="0" indent="-171450" marL="214312">
              <a:lnSpc>
                <a:spcPct val="150000"/>
              </a:lnSpc>
              <a:buChar char="•"/>
            </a:pPr>
            <a:r>
              <a:rPr sz="1125" noProof="1">
                <a:solidFill>
                  <a:srgbClr val="1A1A1A"/>
                </a:solidFill>
                <a:latin typeface="QuattrocentoSans"/>
                <a:ea typeface="MiSans"/>
              </a:rPr>
              <a:t>Format Parquet</a:t>
            </a:r>
          </a:p>
          <a:p>
            <a:pPr algn="l" lvl="0" indent="-171450" marL="214312">
              <a:lnSpc>
                <a:spcPct val="150000"/>
              </a:lnSpc>
              <a:buChar char="•"/>
            </a:pPr>
            <a:r>
              <a:rPr sz="1125" noProof="1">
                <a:solidFill>
                  <a:srgbClr val="1A1A1A"/>
                </a:solidFill>
                <a:latin typeface="QuattrocentoSans"/>
                <a:ea typeface="MiSans"/>
              </a:rPr>
              <a:t>Delta Log versioning</a:t>
            </a:r>
          </a:p>
          <a:p>
            <a:pPr algn="l" lvl="0" indent="-171450" marL="214312">
              <a:lnSpc>
                <a:spcPct val="150000"/>
              </a:lnSpc>
              <a:buChar char="•"/>
            </a:pPr>
            <a:r>
              <a:rPr sz="1125" noProof="1">
                <a:solidFill>
                  <a:srgbClr val="1A1A1A"/>
                </a:solidFill>
                <a:latin typeface="QuattrocentoSans"/>
                <a:ea typeface="MiSans"/>
              </a:rPr>
              <a:t>Quality checks</a:t>
            </a:r>
          </a:p>
        </p:txBody>
      </p:sp>
      <p:cxnSp>
        <p:nvCxnSpPr>
          <p:cNvPr id="15" name="dsl:arrow2"/>
          <p:cNvCxnSpPr/>
          <p:nvPr/>
        </p:nvCxnSpPr>
        <p:spPr>
          <a:xfrm>
            <a:off x="7620000" y="2095500"/>
            <a:ext cx="571500" cy="0"/>
          </a:xfrm>
          <a:prstGeom prst="straightConnector1">
            <a:avLst/>
          </a:prstGeom>
          <a:ln w="25400">
            <a:solidFill>
              <a:srgbClr val="6B7B6E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gold-box"/>
          <p:cNvSpPr/>
          <p:nvPr/>
        </p:nvSpPr>
        <p:spPr>
          <a:xfrm>
            <a:off x="8191500" y="1238250"/>
            <a:ext cx="3429000" cy="1905000"/>
          </a:xfrm>
          <a:prstGeom prst="rect">
            <a:avLst/>
          </a:prstGeom>
          <a:solidFill>
            <a:srgbClr val="C49A3B">
              <a:alpha val="15000"/>
            </a:srgbClr>
          </a:solidFill>
          <a:ln w="25400">
            <a:solidFill>
              <a:srgbClr val="C49A3B"/>
            </a:solidFill>
            <a:prstDash val="solid"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dsl:gold-icon|i=fas:star" descr="tmpu8rr1k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14287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8" name="dsl:gold-title"/>
          <p:cNvSpPr txBox="1"/>
          <p:nvPr/>
        </p:nvSpPr>
        <p:spPr>
          <a:xfrm>
            <a:off x="8782050" y="1428750"/>
            <a:ext cx="26479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C49A3B"/>
                </a:solidFill>
                <a:latin typeface="QuattrocentoSans"/>
                <a:ea typeface="MiSans"/>
              </a:rPr>
              <a:t>Gold Layer</a:t>
            </a:r>
          </a:p>
        </p:txBody>
      </p:sp>
      <p:sp>
        <p:nvSpPr>
          <p:cNvPr id="19" name="dsl:gold-text"/>
          <p:cNvSpPr txBox="1"/>
          <p:nvPr/>
        </p:nvSpPr>
        <p:spPr>
          <a:xfrm>
            <a:off x="8382000" y="1857375"/>
            <a:ext cx="3048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A1A"/>
                </a:solidFill>
                <a:latin typeface="QuattrocentoSans"/>
                <a:ea typeface="MiSans"/>
              </a:rPr>
              <a:t>Data modeling analitik:</a:t>
            </a:r>
          </a:p>
          <a:p>
            <a:pPr algn="l" lvl="0" indent="-171450" marL="214312">
              <a:lnSpc>
                <a:spcPct val="150000"/>
              </a:lnSpc>
              <a:buChar char="•"/>
            </a:pPr>
            <a:r>
              <a:rPr sz="1125" noProof="1">
                <a:solidFill>
                  <a:srgbClr val="1A1A1A"/>
                </a:solidFill>
                <a:latin typeface="QuattrocentoSans"/>
                <a:ea typeface="MiSans"/>
              </a:rPr>
              <a:t>Star Schema</a:t>
            </a:r>
          </a:p>
          <a:p>
            <a:pPr algn="l" lvl="0" indent="-171450" marL="214312">
              <a:lnSpc>
                <a:spcPct val="150000"/>
              </a:lnSpc>
              <a:buChar char="•"/>
            </a:pPr>
            <a:r>
              <a:rPr sz="1125" noProof="1">
                <a:solidFill>
                  <a:srgbClr val="1A1A1A"/>
                </a:solidFill>
                <a:latin typeface="QuattrocentoSans"/>
                <a:ea typeface="MiSans"/>
              </a:rPr>
              <a:t>Analytics-ready</a:t>
            </a:r>
          </a:p>
          <a:p>
            <a:pPr algn="l" lvl="0" indent="-171450" marL="214312">
              <a:lnSpc>
                <a:spcPct val="150000"/>
              </a:lnSpc>
              <a:buChar char="•"/>
            </a:pPr>
            <a:r>
              <a:rPr sz="1125" noProof="1">
                <a:solidFill>
                  <a:srgbClr val="1A1A1A"/>
                </a:solidFill>
                <a:latin typeface="QuattrocentoSans"/>
                <a:ea typeface="MiSans"/>
              </a:rPr>
              <a:t>Query optimization</a:t>
            </a:r>
          </a:p>
        </p:txBody>
      </p:sp>
      <p:sp>
        <p:nvSpPr>
          <p:cNvPr id="20" name="dsl:tech-bar"/>
          <p:cNvSpPr/>
          <p:nvPr/>
        </p:nvSpPr>
        <p:spPr>
          <a:xfrm>
            <a:off x="571500" y="3429000"/>
            <a:ext cx="11049000" cy="476250"/>
          </a:xfrm>
          <a:prstGeom prst="rect">
            <a:avLst/>
          </a:prstGeom>
          <a:solidFill>
            <a:srgbClr val="1B4D3E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ch-text"/>
          <p:cNvSpPr txBox="1"/>
          <p:nvPr/>
        </p:nvSpPr>
        <p:spPr>
          <a:xfrm>
            <a:off x="571500" y="3429000"/>
            <a:ext cx="11049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00" noProof="1">
                <a:solidFill>
                  <a:srgbClr val="1B4D3E"/>
                </a:solidFill>
                <a:latin typeface="QuattrocentoSans"/>
                <a:ea typeface="MiSans"/>
              </a:rPr>
              <a:t>Teknologi:</a:t>
            </a:r>
            <a:r>
              <a:rPr sz="1200" noProof="1">
                <a:solidFill>
                  <a:srgbClr val="1B4D3E"/>
                </a:solidFill>
                <a:latin typeface="QuattrocentoSans"/>
                <a:ea typeface="MiSans"/>
              </a:rPr>
              <a:t> MinIO (Object Storage) + DuckDB (Compute Engine) + Docker Compose</a:t>
            </a:r>
          </a:p>
        </p:txBody>
      </p:sp>
      <p:sp>
        <p:nvSpPr>
          <p:cNvPr id="22" name="dsl:bonus-title|s=$subtitle"/>
          <p:cNvSpPr txBox="1"/>
          <p:nvPr/>
        </p:nvSpPr>
        <p:spPr>
          <a:xfrm>
            <a:off x="571500" y="409575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1350" noProof="1">
                <a:solidFill>
                  <a:srgbClr val="1B4D3E"/>
                </a:solidFill>
                <a:latin typeface="QuattrocentoSans"/>
                <a:ea typeface="MiSans"/>
              </a:rPr>
              <a:t>Fitur Tambahan:</a:t>
            </a:r>
          </a:p>
        </p:txBody>
      </p:sp>
      <p:sp>
        <p:nvSpPr>
          <p:cNvPr id="23" name="dsl:bonus-list|s=$body"/>
          <p:cNvSpPr txBox="1"/>
          <p:nvPr/>
        </p:nvSpPr>
        <p:spPr>
          <a:xfrm>
            <a:off x="571500" y="4476750"/>
            <a:ext cx="1104900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1A1A1A"/>
                </a:solidFill>
                <a:latin typeface="QuattrocentoSans"/>
                <a:ea typeface="MiSans"/>
              </a:rPr>
              <a:t>1. Custom Metadata (+5%):</a:t>
            </a: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 Ingestion timestamp, operator_id, manifest JSON untuk audit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1A1A1A"/>
                </a:solidFill>
                <a:latin typeface="QuattrocentoSans"/>
                <a:ea typeface="MiSans"/>
              </a:rPr>
              <a:t>2. Format Comparison (+5%):</a:t>
            </a: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 Bukti keunggulan kompresi Parquet vs CSV</a:t>
            </a:r>
          </a:p>
          <a:p>
            <a:pPr algn="l">
              <a:lnSpc>
                <a:spcPct val="160000"/>
              </a:lnSpc>
            </a:pPr>
            <a:r>
              <a:rPr b="1" sz="1200" noProof="1">
                <a:solidFill>
                  <a:srgbClr val="1A1A1A"/>
                </a:solidFill>
                <a:latin typeface="QuattrocentoSans"/>
                <a:ea typeface="MiSans"/>
              </a:rPr>
              <a:t>3. Query Explanation (+5%):</a:t>
            </a:r>
            <a:r>
              <a:rPr sz="1200" noProof="1">
                <a:solidFill>
                  <a:srgbClr val="1A1A1A"/>
                </a:solidFill>
                <a:latin typeface="QuattrocentoSans"/>
                <a:ea typeface="MiSans"/>
              </a:rPr>
              <a:t> Analisis Query Plan DuckDB — Filter Pushdown &amp; Projection Pushdown</a:t>
            </a:r>
          </a:p>
        </p:txBody>
      </p:sp>
      <p:sp>
        <p:nvSpPr>
          <p:cNvPr id="24" name="dsl:bottom-bar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B4D3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6B7B6E"/>
                </a:solidFill>
                <a:latin typeface="QuattrocentoSans"/>
                <a:ea typeface="Mi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accent-line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thank-you|s=$title"/>
          <p:cNvSpPr txBox="1"/>
          <p:nvPr/>
        </p:nvSpPr>
        <p:spPr>
          <a:xfrm>
            <a:off x="2286000" y="152400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3300" noProof="1">
                <a:solidFill>
                  <a:srgbClr val="1B4D3E"/>
                </a:solidFill>
                <a:latin typeface="QuattrocentoSans"/>
                <a:ea typeface="MiSans"/>
              </a:rPr>
              <a:t>Terima Kasih</a:t>
            </a:r>
          </a:p>
        </p:txBody>
      </p:sp>
      <p:sp>
        <p:nvSpPr>
          <p:cNvPr id="4" name="dsl:subtitle-line"/>
          <p:cNvSpPr/>
          <p:nvPr/>
        </p:nvSpPr>
        <p:spPr>
          <a:xfrm>
            <a:off x="5143500" y="2381250"/>
            <a:ext cx="1905000" cy="1905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eam-title|s=$subtitle"/>
          <p:cNvSpPr txBox="1"/>
          <p:nvPr/>
        </p:nvSpPr>
        <p:spPr>
          <a:xfrm>
            <a:off x="3238500" y="257175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650" noProof="1">
                <a:solidFill>
                  <a:srgbClr val="6B7B6E"/>
                </a:solidFill>
                <a:latin typeface="QuattrocentoSans"/>
                <a:ea typeface="MiSans"/>
              </a:rPr>
              <a:t>Kelompok Analisis Data Indonesia</a:t>
            </a:r>
          </a:p>
        </p:txBody>
      </p:sp>
      <p:pic>
        <p:nvPicPr>
          <p:cNvPr id="6" name="dsl:member1-icon|i=fas:user" descr="tmpkndwy7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238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member1|s=$body"/>
          <p:cNvSpPr txBox="1"/>
          <p:nvPr/>
        </p:nvSpPr>
        <p:spPr>
          <a:xfrm>
            <a:off x="1714500" y="3238500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A1A1A"/>
                </a:solidFill>
                <a:latin typeface="QuattrocentoSans"/>
                <a:ea typeface="MiSans"/>
              </a:rPr>
              <a:t>Member A — Analisis Perbandingan Regional</a:t>
            </a:r>
          </a:p>
        </p:txBody>
      </p:sp>
      <p:pic>
        <p:nvPicPr>
          <p:cNvPr id="8" name="dsl:member2-icon|i=fas:user" descr="tmpkndwy7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71475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9" name="dsl:member2|s=$body"/>
          <p:cNvSpPr txBox="1"/>
          <p:nvPr/>
        </p:nvSpPr>
        <p:spPr>
          <a:xfrm>
            <a:off x="1714500" y="3714750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A1A1A"/>
                </a:solidFill>
                <a:latin typeface="QuattrocentoSans"/>
                <a:ea typeface="MiSans"/>
              </a:rPr>
              <a:t>Member B — Analisis Tren Temporal</a:t>
            </a:r>
          </a:p>
        </p:txBody>
      </p:sp>
      <p:pic>
        <p:nvPicPr>
          <p:cNvPr id="10" name="dsl:member3-icon|i=fas:user" descr="tmpkndwy7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41910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member3|s=$body"/>
          <p:cNvSpPr txBox="1"/>
          <p:nvPr/>
        </p:nvSpPr>
        <p:spPr>
          <a:xfrm>
            <a:off x="1714500" y="4191000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A1A1A"/>
                </a:solidFill>
                <a:latin typeface="QuattrocentoSans"/>
                <a:ea typeface="MiSans"/>
              </a:rPr>
              <a:t>Member C — Analisis Ketimpangan &amp; Distribusi</a:t>
            </a:r>
          </a:p>
        </p:txBody>
      </p:sp>
      <p:sp>
        <p:nvSpPr>
          <p:cNvPr id="12" name="dsl:contact-bar"/>
          <p:cNvSpPr/>
          <p:nvPr/>
        </p:nvSpPr>
        <p:spPr>
          <a:xfrm>
            <a:off x="3238500" y="4953000"/>
            <a:ext cx="5715000" cy="9525"/>
          </a:xfrm>
          <a:prstGeom prst="rect">
            <a:avLst/>
          </a:prstGeom>
          <a:solidFill>
            <a:srgbClr val="6B7B6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contact-text|s=$caption"/>
          <p:cNvSpPr txBox="1"/>
          <p:nvPr/>
        </p:nvSpPr>
        <p:spPr>
          <a:xfrm>
            <a:off x="3238500" y="5143500"/>
            <a:ext cx="571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6B7B6E"/>
                </a:solidFill>
                <a:latin typeface="QuattrocentoSans"/>
                <a:ea typeface="MiSans"/>
              </a:rPr>
              <a:t>Data Lakehouse Platform | Indonesia Demographics &amp; Economy</a:t>
            </a:r>
          </a:p>
        </p:txBody>
      </p:sp>
      <p:sp>
        <p:nvSpPr>
          <p:cNvPr id="14" name="dsl:bottom-accent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B4D3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age-number|s=$caption"/>
          <p:cNvSpPr txBox="1"/>
          <p:nvPr/>
        </p:nvSpPr>
        <p:spPr>
          <a:xfrm>
            <a:off x="114300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6B7B6E"/>
                </a:solidFill>
                <a:latin typeface="QuattrocentoSans"/>
                <a:ea typeface="MiSan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1B4D3E"/>
    <Color name="secondary" value="#6B7B6E"/>
    <Color name="accent" value="#C49A3B"/>
    <Color name="background" value="#F5F5F0"/>
    <Color name="surface" value="#E8E8E0"/>
    <Color name="text" value="#1A1A1A"/>
  </Colors>
  <TextStyles>
    <TextStyle name="title" font_size="40.0" color="$primary" font_family="QuattrocentoSans, MiSans" line_height="1.2" font_style="normal"/>
    <TextStyle name="subtitle" font_size="22.0" color="$secondary" font_family="QuattrocentoSans, MiSans" line_height="1.3"/>
    <TextStyle name="body" font_size="18.0" color="$text" font_family="QuattrocentoSans, MiSans" line_height="1.6"/>
    <TextStyle name="caption" font_size="12.0" color="$secondary" font_family="QuattrocentoSans, MiSans" line_height="1.4"/>
  </TextStyles>
  <TableStyles>
    <TableStyle name="default" fontSize="16.0" fontFamily="QuattrocentoSans, MiSans" headerFill="$primary" headerColor="#FFFFFF" headerBold="true" bodyFill="$background,$surface" bodyColor="$text" firstColumnBold="false">
      <Border style="solid" width="1.0" color="$secondary"/>
    </TableStyle>
  </TableStyles>
</DslMetadata>
</file>

<file path=customXml/itemProps1.xml><?xml version="1.0" encoding="utf-8"?>
<ns0:datastoreItem xmlns:ns0="http://schemas.openxmlformats.org/officeDocument/2006/customXml" ns0:itemID="{A67B79ED-D2B1-49B0-BD42-DF1474E6FAC0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